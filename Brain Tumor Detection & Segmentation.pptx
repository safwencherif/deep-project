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mo Bold" charset="1" panose="020B0704020202020204"/>
      <p:regular r:id="rId17"/>
    </p:embeddedFont>
    <p:embeddedFont>
      <p:font typeface="Roboto" charset="1" panose="02000000000000000000"/>
      <p:regular r:id="rId18"/>
    </p:embeddedFont>
    <p:embeddedFont>
      <p:font typeface="Roboto Bold" charset="1" panose="02000000000000000000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4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2" Target="../media/image3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jpeg" Type="http://schemas.openxmlformats.org/officeDocument/2006/relationships/image"/><Relationship Id="rId9" Target="../media/image3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5.png" Type="http://schemas.openxmlformats.org/officeDocument/2006/relationships/image"/><Relationship Id="rId6" Target="../media/image38.png" Type="http://schemas.openxmlformats.org/officeDocument/2006/relationships/image"/><Relationship Id="rId7" Target="../media/image39.jpeg" Type="http://schemas.openxmlformats.org/officeDocument/2006/relationships/image"/><Relationship Id="rId8" Target="../media/image4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3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blipFill>
              <a:blip r:embed="rId2"/>
              <a:stretch>
                <a:fillRect l="-33425" t="0" r="-3342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gradFill rotWithShape="true">
              <a:gsLst>
                <a:gs pos="0">
                  <a:srgbClr val="09325E">
                    <a:alpha val="92000"/>
                  </a:srgbClr>
                </a:gs>
                <a:gs pos="100000">
                  <a:srgbClr val="09325E">
                    <a:alpha val="85000"/>
                  </a:srgbClr>
                </a:gs>
              </a:gsLst>
              <a:lin ang="81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66594" y="1889331"/>
            <a:ext cx="1168651" cy="1168679"/>
            <a:chOff x="0" y="0"/>
            <a:chExt cx="1558201" cy="15582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510" y="16510"/>
              <a:ext cx="1525270" cy="1525270"/>
            </a:xfrm>
            <a:custGeom>
              <a:avLst/>
              <a:gdLst/>
              <a:ahLst/>
              <a:cxnLst/>
              <a:rect r="r" b="b" t="t" l="l"/>
              <a:pathLst>
                <a:path h="1525270" w="1525270">
                  <a:moveTo>
                    <a:pt x="0" y="762635"/>
                  </a:moveTo>
                  <a:cubicBezTo>
                    <a:pt x="0" y="341376"/>
                    <a:pt x="341376" y="0"/>
                    <a:pt x="762635" y="0"/>
                  </a:cubicBezTo>
                  <a:cubicBezTo>
                    <a:pt x="1183894" y="0"/>
                    <a:pt x="1525270" y="341376"/>
                    <a:pt x="1525270" y="762635"/>
                  </a:cubicBezTo>
                  <a:cubicBezTo>
                    <a:pt x="1525270" y="1183767"/>
                    <a:pt x="1183894" y="1525270"/>
                    <a:pt x="762635" y="1525270"/>
                  </a:cubicBezTo>
                  <a:cubicBezTo>
                    <a:pt x="341376" y="1525270"/>
                    <a:pt x="0" y="1183767"/>
                    <a:pt x="0" y="762635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8290" cy="1558290"/>
            </a:xfrm>
            <a:custGeom>
              <a:avLst/>
              <a:gdLst/>
              <a:ahLst/>
              <a:cxnLst/>
              <a:rect r="r" b="b" t="t" l="l"/>
              <a:pathLst>
                <a:path h="1558290" w="1558290">
                  <a:moveTo>
                    <a:pt x="0" y="779145"/>
                  </a:moveTo>
                  <a:cubicBezTo>
                    <a:pt x="0" y="348869"/>
                    <a:pt x="348869" y="0"/>
                    <a:pt x="779145" y="0"/>
                  </a:cubicBezTo>
                  <a:cubicBezTo>
                    <a:pt x="784225" y="0"/>
                    <a:pt x="788924" y="2286"/>
                    <a:pt x="792099" y="6223"/>
                  </a:cubicBezTo>
                  <a:lnTo>
                    <a:pt x="779145" y="16510"/>
                  </a:lnTo>
                  <a:lnTo>
                    <a:pt x="779145" y="0"/>
                  </a:lnTo>
                  <a:lnTo>
                    <a:pt x="779145" y="16510"/>
                  </a:lnTo>
                  <a:lnTo>
                    <a:pt x="779145" y="0"/>
                  </a:lnTo>
                  <a:cubicBezTo>
                    <a:pt x="1209421" y="0"/>
                    <a:pt x="1558290" y="348869"/>
                    <a:pt x="1558290" y="779145"/>
                  </a:cubicBezTo>
                  <a:lnTo>
                    <a:pt x="1541780" y="779145"/>
                  </a:lnTo>
                  <a:lnTo>
                    <a:pt x="1558290" y="779145"/>
                  </a:lnTo>
                  <a:cubicBezTo>
                    <a:pt x="1558290" y="1209421"/>
                    <a:pt x="1209421" y="1558290"/>
                    <a:pt x="779145" y="1558290"/>
                  </a:cubicBezTo>
                  <a:lnTo>
                    <a:pt x="779145" y="1541780"/>
                  </a:lnTo>
                  <a:lnTo>
                    <a:pt x="779145" y="1558290"/>
                  </a:lnTo>
                  <a:cubicBezTo>
                    <a:pt x="348869" y="1558290"/>
                    <a:pt x="0" y="1209421"/>
                    <a:pt x="0" y="779145"/>
                  </a:cubicBezTo>
                  <a:lnTo>
                    <a:pt x="16510" y="779145"/>
                  </a:lnTo>
                  <a:lnTo>
                    <a:pt x="0" y="779145"/>
                  </a:lnTo>
                  <a:moveTo>
                    <a:pt x="33020" y="779145"/>
                  </a:moveTo>
                  <a:lnTo>
                    <a:pt x="16510" y="779145"/>
                  </a:lnTo>
                  <a:lnTo>
                    <a:pt x="33020" y="779145"/>
                  </a:lnTo>
                  <a:cubicBezTo>
                    <a:pt x="33020" y="1191133"/>
                    <a:pt x="367030" y="1525143"/>
                    <a:pt x="779018" y="1525143"/>
                  </a:cubicBezTo>
                  <a:cubicBezTo>
                    <a:pt x="1191006" y="1525143"/>
                    <a:pt x="1525016" y="1191133"/>
                    <a:pt x="1525016" y="779145"/>
                  </a:cubicBezTo>
                  <a:lnTo>
                    <a:pt x="1541526" y="779145"/>
                  </a:lnTo>
                  <a:lnTo>
                    <a:pt x="1525016" y="779145"/>
                  </a:lnTo>
                  <a:cubicBezTo>
                    <a:pt x="1525016" y="367157"/>
                    <a:pt x="1191006" y="33147"/>
                    <a:pt x="779018" y="33147"/>
                  </a:cubicBezTo>
                  <a:cubicBezTo>
                    <a:pt x="773938" y="33147"/>
                    <a:pt x="769239" y="30861"/>
                    <a:pt x="766064" y="26924"/>
                  </a:cubicBezTo>
                  <a:lnTo>
                    <a:pt x="779018" y="16637"/>
                  </a:lnTo>
                  <a:lnTo>
                    <a:pt x="779018" y="33020"/>
                  </a:lnTo>
                  <a:cubicBezTo>
                    <a:pt x="367030" y="33020"/>
                    <a:pt x="33020" y="367030"/>
                    <a:pt x="33020" y="779145"/>
                  </a:cubicBezTo>
                  <a:close/>
                </a:path>
              </a:pathLst>
            </a:custGeom>
            <a:solidFill>
              <a:srgbClr val="7DE54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07758" y="2211781"/>
            <a:ext cx="686314" cy="523780"/>
            <a:chOff x="0" y="0"/>
            <a:chExt cx="915086" cy="698373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915035" cy="698373"/>
            </a:xfrm>
            <a:custGeom>
              <a:avLst/>
              <a:gdLst/>
              <a:ahLst/>
              <a:cxnLst/>
              <a:rect r="r" b="b" t="t" l="l"/>
              <a:pathLst>
                <a:path h="698373" w="915035">
                  <a:moveTo>
                    <a:pt x="0" y="0"/>
                  </a:moveTo>
                  <a:lnTo>
                    <a:pt x="915035" y="0"/>
                  </a:lnTo>
                  <a:lnTo>
                    <a:pt x="915035" y="698373"/>
                  </a:lnTo>
                  <a:lnTo>
                    <a:pt x="0" y="698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830181" y="3846338"/>
            <a:ext cx="14641468" cy="2144801"/>
            <a:chOff x="0" y="0"/>
            <a:chExt cx="19521957" cy="28597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21963" cy="2859734"/>
            </a:xfrm>
            <a:custGeom>
              <a:avLst/>
              <a:gdLst/>
              <a:ahLst/>
              <a:cxnLst/>
              <a:rect r="r" b="b" t="t" l="l"/>
              <a:pathLst>
                <a:path h="2859734" w="19521963">
                  <a:moveTo>
                    <a:pt x="0" y="0"/>
                  </a:moveTo>
                  <a:lnTo>
                    <a:pt x="19521963" y="0"/>
                  </a:lnTo>
                  <a:lnTo>
                    <a:pt x="19521963" y="2859734"/>
                  </a:lnTo>
                  <a:lnTo>
                    <a:pt x="0" y="28597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014" r="0" b="-8301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19521957" cy="2974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318"/>
                </a:lnSpc>
              </a:pPr>
              <a:r>
                <a:rPr lang="en-US" sz="5386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NeuroScanAI — Brain Tumor Detection &amp; Segmentation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20734" y="6334316"/>
            <a:ext cx="3660372" cy="57198"/>
            <a:chOff x="0" y="0"/>
            <a:chExt cx="4880496" cy="762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80483" cy="76200"/>
            </a:xfrm>
            <a:custGeom>
              <a:avLst/>
              <a:gdLst/>
              <a:ahLst/>
              <a:cxnLst/>
              <a:rect r="r" b="b" t="t" l="l"/>
              <a:pathLst>
                <a:path h="76200" w="4880483">
                  <a:moveTo>
                    <a:pt x="0" y="0"/>
                  </a:moveTo>
                  <a:lnTo>
                    <a:pt x="4880483" y="0"/>
                  </a:lnTo>
                  <a:lnTo>
                    <a:pt x="488048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DE54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661249" y="6849066"/>
            <a:ext cx="8993638" cy="802365"/>
            <a:chOff x="0" y="0"/>
            <a:chExt cx="11991518" cy="10698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991518" cy="1069809"/>
            </a:xfrm>
            <a:custGeom>
              <a:avLst/>
              <a:gdLst/>
              <a:ahLst/>
              <a:cxnLst/>
              <a:rect r="r" b="b" t="t" l="l"/>
              <a:pathLst>
                <a:path h="1069809" w="11991518">
                  <a:moveTo>
                    <a:pt x="0" y="0"/>
                  </a:moveTo>
                  <a:lnTo>
                    <a:pt x="11991518" y="0"/>
                  </a:lnTo>
                  <a:lnTo>
                    <a:pt x="11991518" y="1069809"/>
                  </a:lnTo>
                  <a:lnTo>
                    <a:pt x="0" y="10698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894" r="0" b="-14692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1991518" cy="1136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1"/>
                </a:lnSpc>
              </a:pPr>
              <a:r>
                <a:rPr lang="en-US" sz="215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Safwen Cherif </a:t>
              </a:r>
            </a:p>
            <a:p>
              <a:pPr algn="ctr">
                <a:lnSpc>
                  <a:spcPts val="3122"/>
                </a:lnSpc>
              </a:pPr>
              <a:r>
                <a:rPr lang="en-US" sz="215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Skander Ben Mohamed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733621" y="8060160"/>
            <a:ext cx="343157" cy="265957"/>
            <a:chOff x="0" y="0"/>
            <a:chExt cx="457543" cy="354609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457581" cy="354584"/>
            </a:xfrm>
            <a:custGeom>
              <a:avLst/>
              <a:gdLst/>
              <a:ahLst/>
              <a:cxnLst/>
              <a:rect r="r" b="b" t="t" l="l"/>
              <a:pathLst>
                <a:path h="35458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54584"/>
                  </a:lnTo>
                  <a:lnTo>
                    <a:pt x="0" y="354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6" b="-7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191164" y="7992951"/>
            <a:ext cx="1630004" cy="400364"/>
            <a:chOff x="0" y="0"/>
            <a:chExt cx="2173338" cy="5338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3342" cy="533815"/>
            </a:xfrm>
            <a:custGeom>
              <a:avLst/>
              <a:gdLst/>
              <a:ahLst/>
              <a:cxnLst/>
              <a:rect r="r" b="b" t="t" l="l"/>
              <a:pathLst>
                <a:path h="533815" w="2173342">
                  <a:moveTo>
                    <a:pt x="0" y="0"/>
                  </a:moveTo>
                  <a:lnTo>
                    <a:pt x="2173342" y="0"/>
                  </a:lnTo>
                  <a:lnTo>
                    <a:pt x="2173342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329" r="0" b="-2933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2173338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161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Deep Learning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93017" y="8047292"/>
            <a:ext cx="343157" cy="291694"/>
            <a:chOff x="0" y="0"/>
            <a:chExt cx="457543" cy="388925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457581" cy="388874"/>
            </a:xfrm>
            <a:custGeom>
              <a:avLst/>
              <a:gdLst/>
              <a:ahLst/>
              <a:cxnLst/>
              <a:rect r="r" b="b" t="t" l="l"/>
              <a:pathLst>
                <a:path h="38887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88874"/>
                  </a:lnTo>
                  <a:lnTo>
                    <a:pt x="0" y="38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6" b="-1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750570" y="7992951"/>
            <a:ext cx="1186758" cy="400364"/>
            <a:chOff x="0" y="0"/>
            <a:chExt cx="1582344" cy="5338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82346" cy="533815"/>
            </a:xfrm>
            <a:custGeom>
              <a:avLst/>
              <a:gdLst/>
              <a:ahLst/>
              <a:cxnLst/>
              <a:rect r="r" b="b" t="t" l="l"/>
              <a:pathLst>
                <a:path h="533815" w="1582346">
                  <a:moveTo>
                    <a:pt x="0" y="0"/>
                  </a:moveTo>
                  <a:lnTo>
                    <a:pt x="1582346" y="0"/>
                  </a:lnTo>
                  <a:lnTo>
                    <a:pt x="1582346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57" r="0" b="-775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0"/>
              <a:ext cx="1582344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161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Medical AI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380574" y="8060160"/>
            <a:ext cx="343157" cy="265957"/>
            <a:chOff x="0" y="0"/>
            <a:chExt cx="457543" cy="354609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457581" cy="354584"/>
            </a:xfrm>
            <a:custGeom>
              <a:avLst/>
              <a:gdLst/>
              <a:ahLst/>
              <a:cxnLst/>
              <a:rect r="r" b="b" t="t" l="l"/>
              <a:pathLst>
                <a:path h="35458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54584"/>
                  </a:lnTo>
                  <a:lnTo>
                    <a:pt x="0" y="354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6" b="-7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838116" y="7992951"/>
            <a:ext cx="1715795" cy="400364"/>
            <a:chOff x="0" y="0"/>
            <a:chExt cx="2287727" cy="53381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87729" cy="533815"/>
            </a:xfrm>
            <a:custGeom>
              <a:avLst/>
              <a:gdLst/>
              <a:ahLst/>
              <a:cxnLst/>
              <a:rect r="r" b="b" t="t" l="l"/>
              <a:pathLst>
                <a:path h="533815" w="2287729">
                  <a:moveTo>
                    <a:pt x="0" y="0"/>
                  </a:moveTo>
                  <a:lnTo>
                    <a:pt x="2287729" y="0"/>
                  </a:lnTo>
                  <a:lnTo>
                    <a:pt x="228772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505" r="0" b="-3350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0"/>
              <a:ext cx="2287727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161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Tumor Analysis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3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50915" cy="10295039"/>
            <a:chOff x="0" y="0"/>
            <a:chExt cx="12201220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01271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2201271">
                  <a:moveTo>
                    <a:pt x="0" y="0"/>
                  </a:moveTo>
                  <a:lnTo>
                    <a:pt x="12201271" y="0"/>
                  </a:lnTo>
                  <a:lnTo>
                    <a:pt x="12201271" y="13726668"/>
                  </a:lnTo>
                  <a:lnTo>
                    <a:pt x="0" y="13726668"/>
                  </a:lnTo>
                  <a:close/>
                </a:path>
              </a:pathLst>
            </a:custGeom>
            <a:blipFill>
              <a:blip r:embed="rId2"/>
              <a:stretch>
                <a:fillRect l="0" t="-6616" r="0" b="-661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66010" y="457562"/>
            <a:ext cx="7320734" cy="1715843"/>
            <a:chOff x="0" y="0"/>
            <a:chExt cx="9760979" cy="22877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60982" cy="2287787"/>
            </a:xfrm>
            <a:custGeom>
              <a:avLst/>
              <a:gdLst/>
              <a:ahLst/>
              <a:cxnLst/>
              <a:rect r="r" b="b" t="t" l="l"/>
              <a:pathLst>
                <a:path h="2287787" w="9760982">
                  <a:moveTo>
                    <a:pt x="0" y="0"/>
                  </a:moveTo>
                  <a:lnTo>
                    <a:pt x="9760982" y="0"/>
                  </a:lnTo>
                  <a:lnTo>
                    <a:pt x="9760982" y="2287787"/>
                  </a:lnTo>
                  <a:lnTo>
                    <a:pt x="0" y="22877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33" r="0" b="-3313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9760979" cy="2373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54"/>
                </a:lnSpc>
              </a:pPr>
              <a:r>
                <a:rPr lang="en-US" sz="4308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Problem &amp; Motivation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66010" y="2402176"/>
            <a:ext cx="1143867" cy="57198"/>
            <a:chOff x="0" y="0"/>
            <a:chExt cx="1525156" cy="762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5143" cy="76200"/>
            </a:xfrm>
            <a:custGeom>
              <a:avLst/>
              <a:gdLst/>
              <a:ahLst/>
              <a:cxnLst/>
              <a:rect r="r" b="b" t="t" l="l"/>
              <a:pathLst>
                <a:path h="76200" w="1525143">
                  <a:moveTo>
                    <a:pt x="0" y="0"/>
                  </a:moveTo>
                  <a:lnTo>
                    <a:pt x="1525143" y="0"/>
                  </a:lnTo>
                  <a:lnTo>
                    <a:pt x="152514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DE54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066010" y="3145707"/>
            <a:ext cx="800700" cy="800729"/>
            <a:chOff x="0" y="0"/>
            <a:chExt cx="1067600" cy="10676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7562" cy="1067689"/>
            </a:xfrm>
            <a:custGeom>
              <a:avLst/>
              <a:gdLst/>
              <a:ahLst/>
              <a:cxnLst/>
              <a:rect r="r" b="b" t="t" l="l"/>
              <a:pathLst>
                <a:path h="1067689" w="1067562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762635" y="0"/>
                  </a:lnTo>
                  <a:cubicBezTo>
                    <a:pt x="931037" y="0"/>
                    <a:pt x="1067562" y="136525"/>
                    <a:pt x="1067562" y="305054"/>
                  </a:cubicBezTo>
                  <a:lnTo>
                    <a:pt x="1067562" y="762635"/>
                  </a:lnTo>
                  <a:cubicBezTo>
                    <a:pt x="1067562" y="931037"/>
                    <a:pt x="931037" y="1067689"/>
                    <a:pt x="762508" y="1067689"/>
                  </a:cubicBezTo>
                  <a:lnTo>
                    <a:pt x="305054" y="1067689"/>
                  </a:lnTo>
                  <a:cubicBezTo>
                    <a:pt x="136525" y="1067689"/>
                    <a:pt x="0" y="931037"/>
                    <a:pt x="0" y="762635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51891" y="3379737"/>
            <a:ext cx="428949" cy="332661"/>
            <a:chOff x="0" y="0"/>
            <a:chExt cx="571932" cy="443547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571881" cy="443611"/>
            </a:xfrm>
            <a:custGeom>
              <a:avLst/>
              <a:gdLst/>
              <a:ahLst/>
              <a:cxnLst/>
              <a:rect r="r" b="b" t="t" l="l"/>
              <a:pathLst>
                <a:path h="443611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443611"/>
                  </a:lnTo>
                  <a:lnTo>
                    <a:pt x="0" y="44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9" b="14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152680" y="3145707"/>
            <a:ext cx="6234065" cy="457562"/>
            <a:chOff x="0" y="0"/>
            <a:chExt cx="8312086" cy="6100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12086" cy="610077"/>
            </a:xfrm>
            <a:custGeom>
              <a:avLst/>
              <a:gdLst/>
              <a:ahLst/>
              <a:cxnLst/>
              <a:rect r="r" b="b" t="t" l="l"/>
              <a:pathLst>
                <a:path h="610077" w="8312086">
                  <a:moveTo>
                    <a:pt x="0" y="0"/>
                  </a:moveTo>
                  <a:lnTo>
                    <a:pt x="8312086" y="0"/>
                  </a:lnTo>
                  <a:lnTo>
                    <a:pt x="8312086" y="610077"/>
                  </a:lnTo>
                  <a:lnTo>
                    <a:pt x="0" y="6100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476" r="0" b="-21547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8312086" cy="676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2"/>
                </a:lnSpc>
              </a:pPr>
              <a:r>
                <a:rPr lang="en-US" sz="215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Critical Impact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152680" y="3717655"/>
            <a:ext cx="6234065" cy="929411"/>
            <a:chOff x="0" y="0"/>
            <a:chExt cx="8312086" cy="12392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12086" cy="1239216"/>
            </a:xfrm>
            <a:custGeom>
              <a:avLst/>
              <a:gdLst/>
              <a:ahLst/>
              <a:cxnLst/>
              <a:rect r="r" b="b" t="t" l="l"/>
              <a:pathLst>
                <a:path h="1239216" w="8312086">
                  <a:moveTo>
                    <a:pt x="0" y="0"/>
                  </a:moveTo>
                  <a:lnTo>
                    <a:pt x="8312086" y="0"/>
                  </a:lnTo>
                  <a:lnTo>
                    <a:pt x="8312086" y="1239216"/>
                  </a:lnTo>
                  <a:lnTo>
                    <a:pt x="0" y="1239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696" r="0" b="-8069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04775"/>
              <a:ext cx="8312086" cy="1343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2"/>
                </a:lnSpc>
              </a:pPr>
              <a:r>
                <a:rPr lang="en-US" sz="179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Brain tumors are deadly; early detection saves lives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66010" y="5233311"/>
            <a:ext cx="800700" cy="800729"/>
            <a:chOff x="0" y="0"/>
            <a:chExt cx="1067600" cy="10676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7562" cy="1067689"/>
            </a:xfrm>
            <a:custGeom>
              <a:avLst/>
              <a:gdLst/>
              <a:ahLst/>
              <a:cxnLst/>
              <a:rect r="r" b="b" t="t" l="l"/>
              <a:pathLst>
                <a:path h="1067689" w="1067562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762635" y="0"/>
                  </a:lnTo>
                  <a:cubicBezTo>
                    <a:pt x="931037" y="0"/>
                    <a:pt x="1067562" y="136525"/>
                    <a:pt x="1067562" y="305054"/>
                  </a:cubicBezTo>
                  <a:lnTo>
                    <a:pt x="1067562" y="762635"/>
                  </a:lnTo>
                  <a:cubicBezTo>
                    <a:pt x="1067562" y="931037"/>
                    <a:pt x="931037" y="1067689"/>
                    <a:pt x="762508" y="1067689"/>
                  </a:cubicBezTo>
                  <a:lnTo>
                    <a:pt x="305054" y="1067689"/>
                  </a:lnTo>
                  <a:cubicBezTo>
                    <a:pt x="136525" y="1067689"/>
                    <a:pt x="0" y="931037"/>
                    <a:pt x="0" y="762635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251891" y="5449834"/>
            <a:ext cx="428949" cy="367675"/>
            <a:chOff x="0" y="0"/>
            <a:chExt cx="571932" cy="490233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571881" cy="490220"/>
            </a:xfrm>
            <a:custGeom>
              <a:avLst/>
              <a:gdLst/>
              <a:ahLst/>
              <a:cxnLst/>
              <a:rect r="r" b="b" t="t" l="l"/>
              <a:pathLst>
                <a:path h="490220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490220"/>
                  </a:lnTo>
                  <a:lnTo>
                    <a:pt x="0" y="490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9" b="-2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152680" y="5233311"/>
            <a:ext cx="6234065" cy="457562"/>
            <a:chOff x="0" y="0"/>
            <a:chExt cx="8312086" cy="6100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12086" cy="610077"/>
            </a:xfrm>
            <a:custGeom>
              <a:avLst/>
              <a:gdLst/>
              <a:ahLst/>
              <a:cxnLst/>
              <a:rect r="r" b="b" t="t" l="l"/>
              <a:pathLst>
                <a:path h="610077" w="8312086">
                  <a:moveTo>
                    <a:pt x="0" y="0"/>
                  </a:moveTo>
                  <a:lnTo>
                    <a:pt x="8312086" y="0"/>
                  </a:lnTo>
                  <a:lnTo>
                    <a:pt x="8312086" y="610077"/>
                  </a:lnTo>
                  <a:lnTo>
                    <a:pt x="0" y="6100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476" r="0" b="-21547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8312086" cy="676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2"/>
                </a:lnSpc>
              </a:pPr>
              <a:r>
                <a:rPr lang="en-US" sz="215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Manual Limitation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152680" y="5805259"/>
            <a:ext cx="6234065" cy="471859"/>
            <a:chOff x="0" y="0"/>
            <a:chExt cx="8312086" cy="62914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12086" cy="629141"/>
            </a:xfrm>
            <a:custGeom>
              <a:avLst/>
              <a:gdLst/>
              <a:ahLst/>
              <a:cxnLst/>
              <a:rect r="r" b="b" t="t" l="l"/>
              <a:pathLst>
                <a:path h="629141" w="8312086">
                  <a:moveTo>
                    <a:pt x="0" y="0"/>
                  </a:moveTo>
                  <a:lnTo>
                    <a:pt x="8312086" y="0"/>
                  </a:lnTo>
                  <a:lnTo>
                    <a:pt x="8312086" y="629141"/>
                  </a:lnTo>
                  <a:lnTo>
                    <a:pt x="0" y="6291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431" r="0" b="-20743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04775"/>
              <a:ext cx="8312086" cy="733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2"/>
                </a:lnSpc>
              </a:pPr>
              <a:r>
                <a:rPr lang="en-US" sz="179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Manual segmentation is slow and expensive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66010" y="6834759"/>
            <a:ext cx="800700" cy="800729"/>
            <a:chOff x="0" y="0"/>
            <a:chExt cx="1067600" cy="10676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7562" cy="1067689"/>
            </a:xfrm>
            <a:custGeom>
              <a:avLst/>
              <a:gdLst/>
              <a:ahLst/>
              <a:cxnLst/>
              <a:rect r="r" b="b" t="t" l="l"/>
              <a:pathLst>
                <a:path h="1067689" w="1067562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762635" y="0"/>
                  </a:lnTo>
                  <a:cubicBezTo>
                    <a:pt x="931037" y="0"/>
                    <a:pt x="1067562" y="136525"/>
                    <a:pt x="1067562" y="305054"/>
                  </a:cubicBezTo>
                  <a:lnTo>
                    <a:pt x="1067562" y="762635"/>
                  </a:lnTo>
                  <a:cubicBezTo>
                    <a:pt x="1067562" y="931037"/>
                    <a:pt x="931037" y="1067689"/>
                    <a:pt x="762508" y="1067689"/>
                  </a:cubicBezTo>
                  <a:lnTo>
                    <a:pt x="305054" y="1067689"/>
                  </a:lnTo>
                  <a:cubicBezTo>
                    <a:pt x="136525" y="1067689"/>
                    <a:pt x="0" y="931037"/>
                    <a:pt x="0" y="762635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251891" y="7060044"/>
            <a:ext cx="428949" cy="350168"/>
            <a:chOff x="0" y="0"/>
            <a:chExt cx="571932" cy="46689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571881" cy="466852"/>
            </a:xfrm>
            <a:custGeom>
              <a:avLst/>
              <a:gdLst/>
              <a:ahLst/>
              <a:cxnLst/>
              <a:rect r="r" b="b" t="t" l="l"/>
              <a:pathLst>
                <a:path h="466852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466852"/>
                  </a:lnTo>
                  <a:lnTo>
                    <a:pt x="0" y="46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9" b="-8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152680" y="6834759"/>
            <a:ext cx="6234065" cy="457562"/>
            <a:chOff x="0" y="0"/>
            <a:chExt cx="8312086" cy="61008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312086" cy="610077"/>
            </a:xfrm>
            <a:custGeom>
              <a:avLst/>
              <a:gdLst/>
              <a:ahLst/>
              <a:cxnLst/>
              <a:rect r="r" b="b" t="t" l="l"/>
              <a:pathLst>
                <a:path h="610077" w="8312086">
                  <a:moveTo>
                    <a:pt x="0" y="0"/>
                  </a:moveTo>
                  <a:lnTo>
                    <a:pt x="8312086" y="0"/>
                  </a:lnTo>
                  <a:lnTo>
                    <a:pt x="8312086" y="610077"/>
                  </a:lnTo>
                  <a:lnTo>
                    <a:pt x="0" y="6100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476" r="0" b="-21547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8312086" cy="676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2"/>
                </a:lnSpc>
              </a:pPr>
              <a:r>
                <a:rPr lang="en-US" sz="215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AI Solution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152680" y="7406716"/>
            <a:ext cx="6234065" cy="471859"/>
            <a:chOff x="0" y="0"/>
            <a:chExt cx="8312086" cy="6291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312086" cy="629141"/>
            </a:xfrm>
            <a:custGeom>
              <a:avLst/>
              <a:gdLst/>
              <a:ahLst/>
              <a:cxnLst/>
              <a:rect r="r" b="b" t="t" l="l"/>
              <a:pathLst>
                <a:path h="629141" w="8312086">
                  <a:moveTo>
                    <a:pt x="0" y="0"/>
                  </a:moveTo>
                  <a:lnTo>
                    <a:pt x="8312086" y="0"/>
                  </a:lnTo>
                  <a:lnTo>
                    <a:pt x="8312086" y="629141"/>
                  </a:lnTo>
                  <a:lnTo>
                    <a:pt x="0" y="6291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431" r="0" b="-20743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04775"/>
              <a:ext cx="8312086" cy="733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2"/>
                </a:lnSpc>
              </a:pPr>
              <a:r>
                <a:rPr lang="en-US" sz="179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AI can screen + localize tumors efficiently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3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5095" y="486156"/>
            <a:ext cx="7320734" cy="1715843"/>
            <a:chOff x="0" y="0"/>
            <a:chExt cx="9760979" cy="22877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60982" cy="2287787"/>
            </a:xfrm>
            <a:custGeom>
              <a:avLst/>
              <a:gdLst/>
              <a:ahLst/>
              <a:cxnLst/>
              <a:rect r="r" b="b" t="t" l="l"/>
              <a:pathLst>
                <a:path h="2287787" w="9760982">
                  <a:moveTo>
                    <a:pt x="0" y="0"/>
                  </a:moveTo>
                  <a:lnTo>
                    <a:pt x="9760982" y="0"/>
                  </a:lnTo>
                  <a:lnTo>
                    <a:pt x="9760982" y="2287787"/>
                  </a:lnTo>
                  <a:lnTo>
                    <a:pt x="0" y="22877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133" r="0" b="-331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9760979" cy="2373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54"/>
                </a:lnSpc>
              </a:pPr>
              <a:r>
                <a:rPr lang="en-US" sz="4308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Data &amp; Preprocessing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5095" y="2430770"/>
            <a:ext cx="1143867" cy="57198"/>
            <a:chOff x="0" y="0"/>
            <a:chExt cx="1525156" cy="762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5143" cy="76200"/>
            </a:xfrm>
            <a:custGeom>
              <a:avLst/>
              <a:gdLst/>
              <a:ahLst/>
              <a:cxnLst/>
              <a:rect r="r" b="b" t="t" l="l"/>
              <a:pathLst>
                <a:path h="76200" w="1525143">
                  <a:moveTo>
                    <a:pt x="0" y="0"/>
                  </a:moveTo>
                  <a:lnTo>
                    <a:pt x="1525143" y="0"/>
                  </a:lnTo>
                  <a:lnTo>
                    <a:pt x="152514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DE54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5095" y="3059916"/>
            <a:ext cx="686314" cy="686333"/>
            <a:chOff x="0" y="0"/>
            <a:chExt cx="915086" cy="9151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610108" y="0"/>
                  </a:lnTo>
                  <a:cubicBezTo>
                    <a:pt x="778510" y="0"/>
                    <a:pt x="915035" y="136525"/>
                    <a:pt x="915035" y="305054"/>
                  </a:cubicBezTo>
                  <a:lnTo>
                    <a:pt x="915035" y="610108"/>
                  </a:lnTo>
                  <a:cubicBezTo>
                    <a:pt x="915035" y="778510"/>
                    <a:pt x="778510" y="915162"/>
                    <a:pt x="609981" y="915162"/>
                  </a:cubicBezTo>
                  <a:lnTo>
                    <a:pt x="305054" y="915162"/>
                  </a:lnTo>
                  <a:cubicBezTo>
                    <a:pt x="136525" y="915162"/>
                    <a:pt x="0" y="778510"/>
                    <a:pt x="0" y="610108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86669" y="3270104"/>
            <a:ext cx="343157" cy="265957"/>
            <a:chOff x="0" y="0"/>
            <a:chExt cx="457543" cy="354609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457581" cy="354584"/>
            </a:xfrm>
            <a:custGeom>
              <a:avLst/>
              <a:gdLst/>
              <a:ahLst/>
              <a:cxnLst/>
              <a:rect r="r" b="b" t="t" l="l"/>
              <a:pathLst>
                <a:path h="35458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54584"/>
                  </a:lnTo>
                  <a:lnTo>
                    <a:pt x="0" y="354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6" b="-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830181" y="3059916"/>
            <a:ext cx="6405648" cy="400364"/>
            <a:chOff x="0" y="0"/>
            <a:chExt cx="8540864" cy="5338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8540864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Dataset Source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30181" y="3517478"/>
            <a:ext cx="6405648" cy="400364"/>
            <a:chOff x="0" y="0"/>
            <a:chExt cx="8540864" cy="5338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8540864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LGG MRI Segmentation (Kaggle)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5095" y="4375394"/>
            <a:ext cx="686314" cy="686333"/>
            <a:chOff x="0" y="0"/>
            <a:chExt cx="915086" cy="915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610108" y="0"/>
                  </a:lnTo>
                  <a:cubicBezTo>
                    <a:pt x="778510" y="0"/>
                    <a:pt x="915035" y="136525"/>
                    <a:pt x="915035" y="305054"/>
                  </a:cubicBezTo>
                  <a:lnTo>
                    <a:pt x="915035" y="610108"/>
                  </a:lnTo>
                  <a:cubicBezTo>
                    <a:pt x="915035" y="778510"/>
                    <a:pt x="778510" y="915162"/>
                    <a:pt x="609981" y="915162"/>
                  </a:cubicBezTo>
                  <a:lnTo>
                    <a:pt x="305054" y="915162"/>
                  </a:lnTo>
                  <a:cubicBezTo>
                    <a:pt x="136525" y="915162"/>
                    <a:pt x="0" y="778510"/>
                    <a:pt x="0" y="610108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86669" y="4611319"/>
            <a:ext cx="343157" cy="214484"/>
            <a:chOff x="0" y="0"/>
            <a:chExt cx="457543" cy="285979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457581" cy="286004"/>
            </a:xfrm>
            <a:custGeom>
              <a:avLst/>
              <a:gdLst/>
              <a:ahLst/>
              <a:cxnLst/>
              <a:rect r="r" b="b" t="t" l="l"/>
              <a:pathLst>
                <a:path h="28600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286004"/>
                  </a:lnTo>
                  <a:lnTo>
                    <a:pt x="0" y="286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6" b="8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30181" y="4375394"/>
            <a:ext cx="6405648" cy="400364"/>
            <a:chOff x="0" y="0"/>
            <a:chExt cx="8540864" cy="5338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8540864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Dataset Scale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30181" y="4832947"/>
            <a:ext cx="6405648" cy="400364"/>
            <a:chOff x="0" y="0"/>
            <a:chExt cx="8540864" cy="5338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8540864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110 patients, MRI slices + tumor masks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5095" y="5690873"/>
            <a:ext cx="686314" cy="686333"/>
            <a:chOff x="0" y="0"/>
            <a:chExt cx="915086" cy="9151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610108" y="0"/>
                  </a:lnTo>
                  <a:cubicBezTo>
                    <a:pt x="778510" y="0"/>
                    <a:pt x="915035" y="136525"/>
                    <a:pt x="915035" y="305054"/>
                  </a:cubicBezTo>
                  <a:lnTo>
                    <a:pt x="915035" y="610108"/>
                  </a:lnTo>
                  <a:cubicBezTo>
                    <a:pt x="915035" y="778510"/>
                    <a:pt x="778510" y="915162"/>
                    <a:pt x="609981" y="915162"/>
                  </a:cubicBezTo>
                  <a:lnTo>
                    <a:pt x="305054" y="915162"/>
                  </a:lnTo>
                  <a:cubicBezTo>
                    <a:pt x="136525" y="915162"/>
                    <a:pt x="0" y="778510"/>
                    <a:pt x="0" y="610108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86669" y="5901061"/>
            <a:ext cx="343157" cy="265957"/>
            <a:chOff x="0" y="0"/>
            <a:chExt cx="457543" cy="354609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457581" cy="354584"/>
            </a:xfrm>
            <a:custGeom>
              <a:avLst/>
              <a:gdLst/>
              <a:ahLst/>
              <a:cxnLst/>
              <a:rect r="r" b="b" t="t" l="l"/>
              <a:pathLst>
                <a:path h="35458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54584"/>
                  </a:lnTo>
                  <a:lnTo>
                    <a:pt x="0" y="354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6" b="-7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830181" y="5690873"/>
            <a:ext cx="6405648" cy="400364"/>
            <a:chOff x="0" y="0"/>
            <a:chExt cx="8540864" cy="53381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8540864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Preprocessing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830181" y="6148426"/>
            <a:ext cx="6405648" cy="400364"/>
            <a:chOff x="0" y="0"/>
            <a:chExt cx="8540864" cy="5338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8540864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Resized to 256×256, normalized to [0,1]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5095" y="7006352"/>
            <a:ext cx="686314" cy="686333"/>
            <a:chOff x="0" y="0"/>
            <a:chExt cx="915086" cy="9151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610108" y="0"/>
                  </a:lnTo>
                  <a:cubicBezTo>
                    <a:pt x="778510" y="0"/>
                    <a:pt x="915035" y="136525"/>
                    <a:pt x="915035" y="305054"/>
                  </a:cubicBezTo>
                  <a:lnTo>
                    <a:pt x="915035" y="610108"/>
                  </a:lnTo>
                  <a:cubicBezTo>
                    <a:pt x="915035" y="778510"/>
                    <a:pt x="778510" y="915162"/>
                    <a:pt x="609981" y="915162"/>
                  </a:cubicBezTo>
                  <a:lnTo>
                    <a:pt x="305054" y="915162"/>
                  </a:lnTo>
                  <a:cubicBezTo>
                    <a:pt x="136525" y="915162"/>
                    <a:pt x="0" y="778510"/>
                    <a:pt x="0" y="610108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86669" y="7216540"/>
            <a:ext cx="343157" cy="265957"/>
            <a:chOff x="0" y="0"/>
            <a:chExt cx="457543" cy="354609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457581" cy="354584"/>
            </a:xfrm>
            <a:custGeom>
              <a:avLst/>
              <a:gdLst/>
              <a:ahLst/>
              <a:cxnLst/>
              <a:rect r="r" b="b" t="t" l="l"/>
              <a:pathLst>
                <a:path h="35458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54584"/>
                  </a:lnTo>
                  <a:lnTo>
                    <a:pt x="0" y="354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6" b="-7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830181" y="7006352"/>
            <a:ext cx="6405648" cy="400364"/>
            <a:chOff x="0" y="0"/>
            <a:chExt cx="8540864" cy="53381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8540864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Data Pipeline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830181" y="7463904"/>
            <a:ext cx="6405648" cy="400364"/>
            <a:chOff x="0" y="0"/>
            <a:chExt cx="8540864" cy="53381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0"/>
              <a:ext cx="8540864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tf.data pipeline + multi‑GPU (2×T4)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15095" y="8893769"/>
            <a:ext cx="1544222" cy="571948"/>
            <a:chOff x="0" y="0"/>
            <a:chExt cx="2058962" cy="76259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58956" cy="762594"/>
            </a:xfrm>
            <a:custGeom>
              <a:avLst/>
              <a:gdLst/>
              <a:ahLst/>
              <a:cxnLst/>
              <a:rect r="r" b="b" t="t" l="l"/>
              <a:pathLst>
                <a:path h="762594" w="2058956">
                  <a:moveTo>
                    <a:pt x="0" y="0"/>
                  </a:moveTo>
                  <a:lnTo>
                    <a:pt x="2058956" y="0"/>
                  </a:lnTo>
                  <a:lnTo>
                    <a:pt x="2058956" y="762594"/>
                  </a:lnTo>
                  <a:lnTo>
                    <a:pt x="0" y="7625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8" r="0" b="-260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2058962" cy="791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03"/>
                </a:lnSpc>
              </a:pPr>
              <a:r>
                <a:rPr lang="en-US" sz="3230" b="true">
                  <a:solidFill>
                    <a:srgbClr val="7DE54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2,556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15095" y="9522914"/>
            <a:ext cx="1544222" cy="285969"/>
            <a:chOff x="0" y="0"/>
            <a:chExt cx="2058962" cy="3812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58956" cy="381296"/>
            </a:xfrm>
            <a:custGeom>
              <a:avLst/>
              <a:gdLst/>
              <a:ahLst/>
              <a:cxnLst/>
              <a:rect r="r" b="b" t="t" l="l"/>
              <a:pathLst>
                <a:path h="381296" w="2058956">
                  <a:moveTo>
                    <a:pt x="0" y="0"/>
                  </a:moveTo>
                  <a:lnTo>
                    <a:pt x="2058956" y="0"/>
                  </a:lnTo>
                  <a:lnTo>
                    <a:pt x="2058956" y="381296"/>
                  </a:lnTo>
                  <a:lnTo>
                    <a:pt x="0" y="381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217" r="0" b="-5521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2058962" cy="4289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256">
                  <a:solidFill>
                    <a:srgbClr val="9CA3AF"/>
                  </a:solidFill>
                  <a:latin typeface="Roboto"/>
                  <a:ea typeface="Roboto"/>
                  <a:cs typeface="Roboto"/>
                  <a:sym typeface="Roboto"/>
                </a:rPr>
                <a:t>Healthy Slices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802465" y="8893769"/>
            <a:ext cx="1544222" cy="571948"/>
            <a:chOff x="0" y="0"/>
            <a:chExt cx="2058962" cy="76259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58956" cy="762594"/>
            </a:xfrm>
            <a:custGeom>
              <a:avLst/>
              <a:gdLst/>
              <a:ahLst/>
              <a:cxnLst/>
              <a:rect r="r" b="b" t="t" l="l"/>
              <a:pathLst>
                <a:path h="762594" w="2058956">
                  <a:moveTo>
                    <a:pt x="0" y="0"/>
                  </a:moveTo>
                  <a:lnTo>
                    <a:pt x="2058956" y="0"/>
                  </a:lnTo>
                  <a:lnTo>
                    <a:pt x="2058956" y="762594"/>
                  </a:lnTo>
                  <a:lnTo>
                    <a:pt x="0" y="7625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8" r="0" b="-260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2058962" cy="791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03"/>
                </a:lnSpc>
              </a:pPr>
              <a:r>
                <a:rPr lang="en-US" sz="3230" b="true">
                  <a:solidFill>
                    <a:srgbClr val="7DE54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1,373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802465" y="9522914"/>
            <a:ext cx="1544222" cy="285969"/>
            <a:chOff x="0" y="0"/>
            <a:chExt cx="2058962" cy="3812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58956" cy="381296"/>
            </a:xfrm>
            <a:custGeom>
              <a:avLst/>
              <a:gdLst/>
              <a:ahLst/>
              <a:cxnLst/>
              <a:rect r="r" b="b" t="t" l="l"/>
              <a:pathLst>
                <a:path h="381296" w="2058956">
                  <a:moveTo>
                    <a:pt x="0" y="0"/>
                  </a:moveTo>
                  <a:lnTo>
                    <a:pt x="2058956" y="0"/>
                  </a:lnTo>
                  <a:lnTo>
                    <a:pt x="2058956" y="381296"/>
                  </a:lnTo>
                  <a:lnTo>
                    <a:pt x="0" y="381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217" r="0" b="-5521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058962" cy="4289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256">
                  <a:solidFill>
                    <a:srgbClr val="9CA3AF"/>
                  </a:solidFill>
                  <a:latin typeface="Roboto"/>
                  <a:ea typeface="Roboto"/>
                  <a:cs typeface="Roboto"/>
                  <a:sym typeface="Roboto"/>
                </a:rPr>
                <a:t>Tumor Slices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8464429" y="2487968"/>
            <a:ext cx="8547568" cy="5504744"/>
          </a:xfrm>
          <a:custGeom>
            <a:avLst/>
            <a:gdLst/>
            <a:ahLst/>
            <a:cxnLst/>
            <a:rect r="r" b="b" t="t" l="l"/>
            <a:pathLst>
              <a:path h="5504744" w="8547568">
                <a:moveTo>
                  <a:pt x="0" y="0"/>
                </a:moveTo>
                <a:lnTo>
                  <a:pt x="8547568" y="0"/>
                </a:lnTo>
                <a:lnTo>
                  <a:pt x="8547568" y="5504744"/>
                </a:lnTo>
                <a:lnTo>
                  <a:pt x="0" y="5504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3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5095" y="314573"/>
            <a:ext cx="8335918" cy="571948"/>
            <a:chOff x="0" y="0"/>
            <a:chExt cx="11114557" cy="762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14555" cy="762594"/>
            </a:xfrm>
            <a:custGeom>
              <a:avLst/>
              <a:gdLst/>
              <a:ahLst/>
              <a:cxnLst/>
              <a:rect r="r" b="b" t="t" l="l"/>
              <a:pathLst>
                <a:path h="762594" w="11114555">
                  <a:moveTo>
                    <a:pt x="0" y="0"/>
                  </a:moveTo>
                  <a:lnTo>
                    <a:pt x="11114555" y="0"/>
                  </a:lnTo>
                  <a:lnTo>
                    <a:pt x="11114555" y="762594"/>
                  </a:lnTo>
                  <a:lnTo>
                    <a:pt x="0" y="7625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3987" r="0" b="-23398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114557" cy="791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03"/>
                </a:lnSpc>
              </a:pPr>
              <a:r>
                <a:rPr lang="en-US" sz="323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Two-Stage Pipeline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94171" y="571948"/>
            <a:ext cx="915095" cy="57198"/>
            <a:chOff x="0" y="0"/>
            <a:chExt cx="1220127" cy="762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089" cy="76200"/>
            </a:xfrm>
            <a:custGeom>
              <a:avLst/>
              <a:gdLst/>
              <a:ahLst/>
              <a:cxnLst/>
              <a:rect r="r" b="b" t="t" l="l"/>
              <a:pathLst>
                <a:path h="76200" w="1220089">
                  <a:moveTo>
                    <a:pt x="0" y="0"/>
                  </a:moveTo>
                  <a:lnTo>
                    <a:pt x="1220089" y="0"/>
                  </a:lnTo>
                  <a:lnTo>
                    <a:pt x="122008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DE54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30004" y="3231499"/>
            <a:ext cx="1143867" cy="1143895"/>
            <a:chOff x="0" y="0"/>
            <a:chExt cx="1525156" cy="15251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5143" cy="1525270"/>
            </a:xfrm>
            <a:custGeom>
              <a:avLst/>
              <a:gdLst/>
              <a:ahLst/>
              <a:cxnLst/>
              <a:rect r="r" b="b" t="t" l="l"/>
              <a:pathLst>
                <a:path h="1525270" w="1525143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915035" y="0"/>
                  </a:lnTo>
                  <a:cubicBezTo>
                    <a:pt x="1251966" y="0"/>
                    <a:pt x="1525143" y="273177"/>
                    <a:pt x="1525143" y="610108"/>
                  </a:cubicBezTo>
                  <a:lnTo>
                    <a:pt x="1525143" y="915162"/>
                  </a:lnTo>
                  <a:cubicBezTo>
                    <a:pt x="1525143" y="1252093"/>
                    <a:pt x="1251966" y="1525270"/>
                    <a:pt x="915035" y="1525270"/>
                  </a:cubicBezTo>
                  <a:lnTo>
                    <a:pt x="610108" y="1525270"/>
                  </a:lnTo>
                  <a:cubicBezTo>
                    <a:pt x="273177" y="1525143"/>
                    <a:pt x="0" y="1252093"/>
                    <a:pt x="0" y="915162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858785" y="3541557"/>
            <a:ext cx="686314" cy="523780"/>
            <a:chOff x="0" y="0"/>
            <a:chExt cx="915086" cy="698373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915035" cy="698373"/>
            </a:xfrm>
            <a:custGeom>
              <a:avLst/>
              <a:gdLst/>
              <a:ahLst/>
              <a:cxnLst/>
              <a:rect r="r" b="b" t="t" l="l"/>
              <a:pathLst>
                <a:path h="698373" w="915035">
                  <a:moveTo>
                    <a:pt x="0" y="0"/>
                  </a:moveTo>
                  <a:lnTo>
                    <a:pt x="915035" y="0"/>
                  </a:lnTo>
                  <a:lnTo>
                    <a:pt x="915035" y="698373"/>
                  </a:lnTo>
                  <a:lnTo>
                    <a:pt x="0" y="698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72816" y="4604175"/>
            <a:ext cx="1272550" cy="400364"/>
            <a:chOff x="0" y="0"/>
            <a:chExt cx="1696733" cy="5338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96732" cy="533815"/>
            </a:xfrm>
            <a:custGeom>
              <a:avLst/>
              <a:gdLst/>
              <a:ahLst/>
              <a:cxnLst/>
              <a:rect r="r" b="b" t="t" l="l"/>
              <a:pathLst>
                <a:path h="533815" w="1696732">
                  <a:moveTo>
                    <a:pt x="0" y="0"/>
                  </a:moveTo>
                  <a:lnTo>
                    <a:pt x="1696732" y="0"/>
                  </a:lnTo>
                  <a:lnTo>
                    <a:pt x="1696732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32" r="0" b="-1193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696733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MRI Input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44389" y="5118925"/>
            <a:ext cx="929392" cy="285969"/>
            <a:chOff x="0" y="0"/>
            <a:chExt cx="1239190" cy="3812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39186" cy="381296"/>
            </a:xfrm>
            <a:custGeom>
              <a:avLst/>
              <a:gdLst/>
              <a:ahLst/>
              <a:cxnLst/>
              <a:rect r="r" b="b" t="t" l="l"/>
              <a:pathLst>
                <a:path h="381296" w="1239186">
                  <a:moveTo>
                    <a:pt x="0" y="0"/>
                  </a:moveTo>
                  <a:lnTo>
                    <a:pt x="1239186" y="0"/>
                  </a:lnTo>
                  <a:lnTo>
                    <a:pt x="1239186" y="381296"/>
                  </a:lnTo>
                  <a:lnTo>
                    <a:pt x="0" y="381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25" r="0" b="-1332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239190" cy="4289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256">
                  <a:solidFill>
                    <a:srgbClr val="9CA3AF"/>
                  </a:solidFill>
                  <a:latin typeface="Roboto"/>
                  <a:ea typeface="Roboto"/>
                  <a:cs typeface="Roboto"/>
                  <a:sym typeface="Roboto"/>
                </a:rPr>
                <a:t>Brain scan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88966" y="4136260"/>
            <a:ext cx="514741" cy="363874"/>
            <a:chOff x="0" y="0"/>
            <a:chExt cx="686321" cy="485165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686308" cy="485140"/>
            </a:xfrm>
            <a:custGeom>
              <a:avLst/>
              <a:gdLst/>
              <a:ahLst/>
              <a:cxnLst/>
              <a:rect r="r" b="b" t="t" l="l"/>
              <a:pathLst>
                <a:path h="485140" w="686308">
                  <a:moveTo>
                    <a:pt x="0" y="0"/>
                  </a:moveTo>
                  <a:lnTo>
                    <a:pt x="686308" y="0"/>
                  </a:lnTo>
                  <a:lnTo>
                    <a:pt x="686308" y="485140"/>
                  </a:lnTo>
                  <a:lnTo>
                    <a:pt x="0" y="485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2" b="-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104495" y="3231499"/>
            <a:ext cx="1143867" cy="1143895"/>
            <a:chOff x="0" y="0"/>
            <a:chExt cx="1525156" cy="15251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5143" cy="1525270"/>
            </a:xfrm>
            <a:custGeom>
              <a:avLst/>
              <a:gdLst/>
              <a:ahLst/>
              <a:cxnLst/>
              <a:rect r="r" b="b" t="t" l="l"/>
              <a:pathLst>
                <a:path h="1525270" w="1525143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915035" y="0"/>
                  </a:lnTo>
                  <a:cubicBezTo>
                    <a:pt x="1251966" y="0"/>
                    <a:pt x="1525143" y="273177"/>
                    <a:pt x="1525143" y="610108"/>
                  </a:cubicBezTo>
                  <a:lnTo>
                    <a:pt x="1525143" y="915162"/>
                  </a:lnTo>
                  <a:cubicBezTo>
                    <a:pt x="1525143" y="1252093"/>
                    <a:pt x="1251966" y="1525270"/>
                    <a:pt x="915035" y="1525270"/>
                  </a:cubicBezTo>
                  <a:lnTo>
                    <a:pt x="610108" y="1525270"/>
                  </a:lnTo>
                  <a:cubicBezTo>
                    <a:pt x="273177" y="1525143"/>
                    <a:pt x="0" y="1252093"/>
                    <a:pt x="0" y="915162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333267" y="3541557"/>
            <a:ext cx="686314" cy="523780"/>
            <a:chOff x="0" y="0"/>
            <a:chExt cx="915086" cy="698373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915035" cy="698373"/>
            </a:xfrm>
            <a:custGeom>
              <a:avLst/>
              <a:gdLst/>
              <a:ahLst/>
              <a:cxnLst/>
              <a:rect r="r" b="b" t="t" l="l"/>
              <a:pathLst>
                <a:path h="698373" w="915035">
                  <a:moveTo>
                    <a:pt x="0" y="0"/>
                  </a:moveTo>
                  <a:lnTo>
                    <a:pt x="915035" y="0"/>
                  </a:lnTo>
                  <a:lnTo>
                    <a:pt x="915035" y="698373"/>
                  </a:lnTo>
                  <a:lnTo>
                    <a:pt x="0" y="698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7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047307" y="4604175"/>
            <a:ext cx="1272550" cy="400364"/>
            <a:chOff x="0" y="0"/>
            <a:chExt cx="1696733" cy="5338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96732" cy="533815"/>
            </a:xfrm>
            <a:custGeom>
              <a:avLst/>
              <a:gdLst/>
              <a:ahLst/>
              <a:cxnLst/>
              <a:rect r="r" b="b" t="t" l="l"/>
              <a:pathLst>
                <a:path h="533815" w="1696732">
                  <a:moveTo>
                    <a:pt x="0" y="0"/>
                  </a:moveTo>
                  <a:lnTo>
                    <a:pt x="1696732" y="0"/>
                  </a:lnTo>
                  <a:lnTo>
                    <a:pt x="1696732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32" r="0" b="-1193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696733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ResNet50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261781" y="5118925"/>
            <a:ext cx="815007" cy="285969"/>
            <a:chOff x="0" y="0"/>
            <a:chExt cx="1086676" cy="3812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6671" cy="381296"/>
            </a:xfrm>
            <a:custGeom>
              <a:avLst/>
              <a:gdLst/>
              <a:ahLst/>
              <a:cxnLst/>
              <a:rect r="r" b="b" t="t" l="l"/>
              <a:pathLst>
                <a:path h="381296" w="1086671">
                  <a:moveTo>
                    <a:pt x="0" y="0"/>
                  </a:moveTo>
                  <a:lnTo>
                    <a:pt x="1086671" y="0"/>
                  </a:lnTo>
                  <a:lnTo>
                    <a:pt x="1086671" y="381296"/>
                  </a:lnTo>
                  <a:lnTo>
                    <a:pt x="0" y="381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31" r="0" b="-553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86676" cy="4289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256">
                  <a:solidFill>
                    <a:srgbClr val="9CA3AF"/>
                  </a:solidFill>
                  <a:latin typeface="Roboto"/>
                  <a:ea typeface="Roboto"/>
                  <a:cs typeface="Roboto"/>
                  <a:sym typeface="Roboto"/>
                </a:rPr>
                <a:t>Classifier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49151" y="4136260"/>
            <a:ext cx="514741" cy="363874"/>
            <a:chOff x="0" y="0"/>
            <a:chExt cx="686321" cy="485165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686308" cy="485140"/>
            </a:xfrm>
            <a:custGeom>
              <a:avLst/>
              <a:gdLst/>
              <a:ahLst/>
              <a:cxnLst/>
              <a:rect r="r" b="b" t="t" l="l"/>
              <a:pathLst>
                <a:path h="485140" w="686308">
                  <a:moveTo>
                    <a:pt x="0" y="0"/>
                  </a:moveTo>
                  <a:lnTo>
                    <a:pt x="686308" y="0"/>
                  </a:lnTo>
                  <a:lnTo>
                    <a:pt x="686308" y="485140"/>
                  </a:lnTo>
                  <a:lnTo>
                    <a:pt x="0" y="485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2" b="-5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78987" y="3231499"/>
            <a:ext cx="1143867" cy="1143895"/>
            <a:chOff x="0" y="0"/>
            <a:chExt cx="1525156" cy="15251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25143" cy="1525270"/>
            </a:xfrm>
            <a:custGeom>
              <a:avLst/>
              <a:gdLst/>
              <a:ahLst/>
              <a:cxnLst/>
              <a:rect r="r" b="b" t="t" l="l"/>
              <a:pathLst>
                <a:path h="1525270" w="1525143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915035" y="0"/>
                  </a:lnTo>
                  <a:cubicBezTo>
                    <a:pt x="1251966" y="0"/>
                    <a:pt x="1525143" y="273177"/>
                    <a:pt x="1525143" y="610108"/>
                  </a:cubicBezTo>
                  <a:lnTo>
                    <a:pt x="1525143" y="915162"/>
                  </a:lnTo>
                  <a:cubicBezTo>
                    <a:pt x="1525143" y="1252093"/>
                    <a:pt x="1251966" y="1525270"/>
                    <a:pt x="915035" y="1525270"/>
                  </a:cubicBezTo>
                  <a:lnTo>
                    <a:pt x="610108" y="1525270"/>
                  </a:lnTo>
                  <a:cubicBezTo>
                    <a:pt x="273177" y="1525143"/>
                    <a:pt x="0" y="1252093"/>
                    <a:pt x="0" y="915162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807758" y="3514458"/>
            <a:ext cx="686314" cy="577967"/>
            <a:chOff x="0" y="0"/>
            <a:chExt cx="915086" cy="770623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915035" cy="770636"/>
            </a:xfrm>
            <a:custGeom>
              <a:avLst/>
              <a:gdLst/>
              <a:ahLst/>
              <a:cxnLst/>
              <a:rect r="r" b="b" t="t" l="l"/>
              <a:pathLst>
                <a:path h="770636" w="915035">
                  <a:moveTo>
                    <a:pt x="0" y="0"/>
                  </a:moveTo>
                  <a:lnTo>
                    <a:pt x="915035" y="0"/>
                  </a:lnTo>
                  <a:lnTo>
                    <a:pt x="915035" y="770636"/>
                  </a:lnTo>
                  <a:lnTo>
                    <a:pt x="0" y="770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7" b="1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436007" y="4604175"/>
            <a:ext cx="1415529" cy="400364"/>
            <a:chOff x="0" y="0"/>
            <a:chExt cx="1887372" cy="53381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87376" cy="533815"/>
            </a:xfrm>
            <a:custGeom>
              <a:avLst/>
              <a:gdLst/>
              <a:ahLst/>
              <a:cxnLst/>
              <a:rect r="r" b="b" t="t" l="l"/>
              <a:pathLst>
                <a:path h="533815" w="1887376">
                  <a:moveTo>
                    <a:pt x="0" y="0"/>
                  </a:moveTo>
                  <a:lnTo>
                    <a:pt x="1887376" y="0"/>
                  </a:lnTo>
                  <a:lnTo>
                    <a:pt x="1887376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91" r="0" b="-1889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1887372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Detection?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507492" y="5118925"/>
            <a:ext cx="1286847" cy="285969"/>
            <a:chOff x="0" y="0"/>
            <a:chExt cx="1715795" cy="3812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15796" cy="381296"/>
            </a:xfrm>
            <a:custGeom>
              <a:avLst/>
              <a:gdLst/>
              <a:ahLst/>
              <a:cxnLst/>
              <a:rect r="r" b="b" t="t" l="l"/>
              <a:pathLst>
                <a:path h="381296" w="1715796">
                  <a:moveTo>
                    <a:pt x="0" y="0"/>
                  </a:moveTo>
                  <a:lnTo>
                    <a:pt x="1715796" y="0"/>
                  </a:lnTo>
                  <a:lnTo>
                    <a:pt x="1715796" y="381296"/>
                  </a:lnTo>
                  <a:lnTo>
                    <a:pt x="0" y="381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1" r="0" b="-3768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715795" cy="4289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256">
                  <a:solidFill>
                    <a:srgbClr val="9CA3AF"/>
                  </a:solidFill>
                  <a:latin typeface="Roboto"/>
                  <a:ea typeface="Roboto"/>
                  <a:cs typeface="Roboto"/>
                  <a:sym typeface="Roboto"/>
                </a:rPr>
                <a:t>Tumor present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637949" y="4136260"/>
            <a:ext cx="514741" cy="363874"/>
            <a:chOff x="0" y="0"/>
            <a:chExt cx="686321" cy="485165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686308" cy="485140"/>
            </a:xfrm>
            <a:custGeom>
              <a:avLst/>
              <a:gdLst/>
              <a:ahLst/>
              <a:cxnLst/>
              <a:rect r="r" b="b" t="t" l="l"/>
              <a:pathLst>
                <a:path h="485140" w="686308">
                  <a:moveTo>
                    <a:pt x="0" y="0"/>
                  </a:moveTo>
                  <a:lnTo>
                    <a:pt x="686308" y="0"/>
                  </a:lnTo>
                  <a:lnTo>
                    <a:pt x="686308" y="485140"/>
                  </a:lnTo>
                  <a:lnTo>
                    <a:pt x="0" y="485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2" b="-5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053478" y="3231499"/>
            <a:ext cx="1143867" cy="1143895"/>
            <a:chOff x="0" y="0"/>
            <a:chExt cx="1525156" cy="152519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25143" cy="1525270"/>
            </a:xfrm>
            <a:custGeom>
              <a:avLst/>
              <a:gdLst/>
              <a:ahLst/>
              <a:cxnLst/>
              <a:rect r="r" b="b" t="t" l="l"/>
              <a:pathLst>
                <a:path h="1525270" w="1525143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915035" y="0"/>
                  </a:lnTo>
                  <a:cubicBezTo>
                    <a:pt x="1251966" y="0"/>
                    <a:pt x="1525143" y="273177"/>
                    <a:pt x="1525143" y="610108"/>
                  </a:cubicBezTo>
                  <a:lnTo>
                    <a:pt x="1525143" y="915162"/>
                  </a:lnTo>
                  <a:cubicBezTo>
                    <a:pt x="1525143" y="1252093"/>
                    <a:pt x="1251966" y="1525270"/>
                    <a:pt x="915035" y="1525270"/>
                  </a:cubicBezTo>
                  <a:lnTo>
                    <a:pt x="610108" y="1525270"/>
                  </a:lnTo>
                  <a:cubicBezTo>
                    <a:pt x="273177" y="1525143"/>
                    <a:pt x="0" y="1252093"/>
                    <a:pt x="0" y="915162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282249" y="3523488"/>
            <a:ext cx="686314" cy="559908"/>
            <a:chOff x="0" y="0"/>
            <a:chExt cx="915086" cy="746544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915035" cy="746506"/>
            </a:xfrm>
            <a:custGeom>
              <a:avLst/>
              <a:gdLst/>
              <a:ahLst/>
              <a:cxnLst/>
              <a:rect r="r" b="b" t="t" l="l"/>
              <a:pathLst>
                <a:path h="746506" w="915035">
                  <a:moveTo>
                    <a:pt x="0" y="0"/>
                  </a:moveTo>
                  <a:lnTo>
                    <a:pt x="915035" y="0"/>
                  </a:lnTo>
                  <a:lnTo>
                    <a:pt x="915035" y="746506"/>
                  </a:lnTo>
                  <a:lnTo>
                    <a:pt x="0" y="746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7" b="-5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053478" y="4604175"/>
            <a:ext cx="1143867" cy="400364"/>
            <a:chOff x="0" y="0"/>
            <a:chExt cx="1525156" cy="53381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25152" cy="533815"/>
            </a:xfrm>
            <a:custGeom>
              <a:avLst/>
              <a:gdLst/>
              <a:ahLst/>
              <a:cxnLst/>
              <a:rect r="r" b="b" t="t" l="l"/>
              <a:pathLst>
                <a:path h="533815" w="1525152">
                  <a:moveTo>
                    <a:pt x="0" y="0"/>
                  </a:moveTo>
                  <a:lnTo>
                    <a:pt x="1525152" y="0"/>
                  </a:lnTo>
                  <a:lnTo>
                    <a:pt x="1525152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0" r="0" b="-567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1525156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ResUNet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139270" y="5118925"/>
            <a:ext cx="972283" cy="285969"/>
            <a:chOff x="0" y="0"/>
            <a:chExt cx="1296378" cy="3812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96379" cy="381296"/>
            </a:xfrm>
            <a:custGeom>
              <a:avLst/>
              <a:gdLst/>
              <a:ahLst/>
              <a:cxnLst/>
              <a:rect r="r" b="b" t="t" l="l"/>
              <a:pathLst>
                <a:path h="381296" w="1296379">
                  <a:moveTo>
                    <a:pt x="0" y="0"/>
                  </a:moveTo>
                  <a:lnTo>
                    <a:pt x="1296379" y="0"/>
                  </a:lnTo>
                  <a:lnTo>
                    <a:pt x="1296379" y="381296"/>
                  </a:lnTo>
                  <a:lnTo>
                    <a:pt x="0" y="381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48" r="0" b="-1624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296378" cy="4289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256">
                  <a:solidFill>
                    <a:srgbClr val="9CA3AF"/>
                  </a:solidFill>
                  <a:latin typeface="Roboto"/>
                  <a:ea typeface="Roboto"/>
                  <a:cs typeface="Roboto"/>
                  <a:sym typeface="Roboto"/>
                </a:rPr>
                <a:t>Segmentor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098133" y="4136260"/>
            <a:ext cx="514741" cy="363874"/>
            <a:chOff x="0" y="0"/>
            <a:chExt cx="686321" cy="485165"/>
          </a:xfrm>
        </p:grpSpPr>
        <p:sp>
          <p:nvSpPr>
            <p:cNvPr name="Freeform 54" id="54" descr="image.png"/>
            <p:cNvSpPr/>
            <p:nvPr/>
          </p:nvSpPr>
          <p:spPr>
            <a:xfrm flipH="false" flipV="false" rot="0">
              <a:off x="0" y="0"/>
              <a:ext cx="686308" cy="485140"/>
            </a:xfrm>
            <a:custGeom>
              <a:avLst/>
              <a:gdLst/>
              <a:ahLst/>
              <a:cxnLst/>
              <a:rect r="r" b="b" t="t" l="l"/>
              <a:pathLst>
                <a:path h="485140" w="686308">
                  <a:moveTo>
                    <a:pt x="0" y="0"/>
                  </a:moveTo>
                  <a:lnTo>
                    <a:pt x="686308" y="0"/>
                  </a:lnTo>
                  <a:lnTo>
                    <a:pt x="686308" y="485140"/>
                  </a:lnTo>
                  <a:lnTo>
                    <a:pt x="0" y="485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2" b="-5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5527969" y="3231499"/>
            <a:ext cx="1143867" cy="1143895"/>
            <a:chOff x="0" y="0"/>
            <a:chExt cx="1525156" cy="152519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525143" cy="1525270"/>
            </a:xfrm>
            <a:custGeom>
              <a:avLst/>
              <a:gdLst/>
              <a:ahLst/>
              <a:cxnLst/>
              <a:rect r="r" b="b" t="t" l="l"/>
              <a:pathLst>
                <a:path h="1525270" w="1525143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915035" y="0"/>
                  </a:lnTo>
                  <a:cubicBezTo>
                    <a:pt x="1251966" y="0"/>
                    <a:pt x="1525143" y="273177"/>
                    <a:pt x="1525143" y="610108"/>
                  </a:cubicBezTo>
                  <a:lnTo>
                    <a:pt x="1525143" y="915162"/>
                  </a:lnTo>
                  <a:cubicBezTo>
                    <a:pt x="1525143" y="1252093"/>
                    <a:pt x="1251966" y="1525270"/>
                    <a:pt x="915035" y="1525270"/>
                  </a:cubicBezTo>
                  <a:lnTo>
                    <a:pt x="610108" y="1525270"/>
                  </a:lnTo>
                  <a:cubicBezTo>
                    <a:pt x="273177" y="1525143"/>
                    <a:pt x="0" y="1252093"/>
                    <a:pt x="0" y="915162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5756741" y="3541557"/>
            <a:ext cx="686314" cy="523780"/>
            <a:chOff x="0" y="0"/>
            <a:chExt cx="915086" cy="698373"/>
          </a:xfrm>
        </p:grpSpPr>
        <p:sp>
          <p:nvSpPr>
            <p:cNvPr name="Freeform 58" id="58" descr="image.png"/>
            <p:cNvSpPr/>
            <p:nvPr/>
          </p:nvSpPr>
          <p:spPr>
            <a:xfrm flipH="false" flipV="false" rot="0">
              <a:off x="0" y="0"/>
              <a:ext cx="915035" cy="698373"/>
            </a:xfrm>
            <a:custGeom>
              <a:avLst/>
              <a:gdLst/>
              <a:ahLst/>
              <a:cxnLst/>
              <a:rect r="r" b="b" t="t" l="l"/>
              <a:pathLst>
                <a:path h="698373" w="915035">
                  <a:moveTo>
                    <a:pt x="0" y="0"/>
                  </a:moveTo>
                  <a:lnTo>
                    <a:pt x="915035" y="0"/>
                  </a:lnTo>
                  <a:lnTo>
                    <a:pt x="915035" y="698373"/>
                  </a:lnTo>
                  <a:lnTo>
                    <a:pt x="0" y="698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7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5656652" y="4604175"/>
            <a:ext cx="900789" cy="400364"/>
            <a:chOff x="0" y="0"/>
            <a:chExt cx="1201052" cy="53381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01056" cy="533815"/>
            </a:xfrm>
            <a:custGeom>
              <a:avLst/>
              <a:gdLst/>
              <a:ahLst/>
              <a:cxnLst/>
              <a:rect r="r" b="b" t="t" l="l"/>
              <a:pathLst>
                <a:path h="533815" w="1201056">
                  <a:moveTo>
                    <a:pt x="0" y="0"/>
                  </a:moveTo>
                  <a:lnTo>
                    <a:pt x="1201056" y="0"/>
                  </a:lnTo>
                  <a:lnTo>
                    <a:pt x="1201056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5" t="0" r="-7025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1201052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Output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5270594" y="5118925"/>
            <a:ext cx="1672904" cy="285969"/>
            <a:chOff x="0" y="0"/>
            <a:chExt cx="2230539" cy="3812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30537" cy="381296"/>
            </a:xfrm>
            <a:custGeom>
              <a:avLst/>
              <a:gdLst/>
              <a:ahLst/>
              <a:cxnLst/>
              <a:rect r="r" b="b" t="t" l="l"/>
              <a:pathLst>
                <a:path h="381296" w="2230537">
                  <a:moveTo>
                    <a:pt x="0" y="0"/>
                  </a:moveTo>
                  <a:lnTo>
                    <a:pt x="2230537" y="0"/>
                  </a:lnTo>
                  <a:lnTo>
                    <a:pt x="2230537" y="381296"/>
                  </a:lnTo>
                  <a:lnTo>
                    <a:pt x="0" y="381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985" r="0" b="-6398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2230539" cy="4289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1"/>
                </a:lnSpc>
              </a:pPr>
              <a:r>
                <a:rPr lang="en-US" sz="1256">
                  <a:solidFill>
                    <a:srgbClr val="9CA3AF"/>
                  </a:solidFill>
                  <a:latin typeface="Roboto"/>
                  <a:ea typeface="Roboto"/>
                  <a:cs typeface="Roboto"/>
                  <a:sym typeface="Roboto"/>
                </a:rPr>
                <a:t>Overlay + Heatmap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15095" y="6320009"/>
            <a:ext cx="5261781" cy="1944614"/>
            <a:chOff x="0" y="0"/>
            <a:chExt cx="7015709" cy="259281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015735" cy="2592832"/>
            </a:xfrm>
            <a:custGeom>
              <a:avLst/>
              <a:gdLst/>
              <a:ahLst/>
              <a:cxnLst/>
              <a:rect r="r" b="b" t="t" l="l"/>
              <a:pathLst>
                <a:path h="2592832" w="7015735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6558153" y="0"/>
                  </a:lnTo>
                  <a:cubicBezTo>
                    <a:pt x="6810883" y="0"/>
                    <a:pt x="7015735" y="204851"/>
                    <a:pt x="7015735" y="457581"/>
                  </a:cubicBezTo>
                  <a:lnTo>
                    <a:pt x="7015735" y="2135251"/>
                  </a:lnTo>
                  <a:cubicBezTo>
                    <a:pt x="7015735" y="2387981"/>
                    <a:pt x="6810883" y="2592832"/>
                    <a:pt x="6558153" y="2592832"/>
                  </a:cubicBezTo>
                  <a:lnTo>
                    <a:pt x="457581" y="2592832"/>
                  </a:lnTo>
                  <a:cubicBezTo>
                    <a:pt x="204851" y="2592832"/>
                    <a:pt x="0" y="2387981"/>
                    <a:pt x="0" y="2135251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01055" y="6712515"/>
            <a:ext cx="343157" cy="244507"/>
            <a:chOff x="0" y="0"/>
            <a:chExt cx="457543" cy="326009"/>
          </a:xfrm>
        </p:grpSpPr>
        <p:sp>
          <p:nvSpPr>
            <p:cNvPr name="Freeform 68" id="68" descr="image.png"/>
            <p:cNvSpPr/>
            <p:nvPr/>
          </p:nvSpPr>
          <p:spPr>
            <a:xfrm flipH="false" flipV="false" rot="0">
              <a:off x="0" y="0"/>
              <a:ext cx="457581" cy="326009"/>
            </a:xfrm>
            <a:custGeom>
              <a:avLst/>
              <a:gdLst/>
              <a:ahLst/>
              <a:cxnLst/>
              <a:rect r="r" b="b" t="t" l="l"/>
              <a:pathLst>
                <a:path h="326009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26009"/>
                  </a:lnTo>
                  <a:lnTo>
                    <a:pt x="0" y="326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6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715795" y="6634582"/>
            <a:ext cx="1358341" cy="400364"/>
            <a:chOff x="0" y="0"/>
            <a:chExt cx="1811122" cy="53381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811119" cy="533815"/>
            </a:xfrm>
            <a:custGeom>
              <a:avLst/>
              <a:gdLst/>
              <a:ahLst/>
              <a:cxnLst/>
              <a:rect r="r" b="b" t="t" l="l"/>
              <a:pathLst>
                <a:path h="533815" w="1811119">
                  <a:moveTo>
                    <a:pt x="0" y="0"/>
                  </a:moveTo>
                  <a:lnTo>
                    <a:pt x="1811119" y="0"/>
                  </a:lnTo>
                  <a:lnTo>
                    <a:pt x="181111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08" r="0" b="-1610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0"/>
              <a:ext cx="1811122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Gatekeeper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01055" y="7235123"/>
            <a:ext cx="4689843" cy="743531"/>
            <a:chOff x="0" y="0"/>
            <a:chExt cx="6253124" cy="99137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53127" cy="991373"/>
            </a:xfrm>
            <a:custGeom>
              <a:avLst/>
              <a:gdLst/>
              <a:ahLst/>
              <a:cxnLst/>
              <a:rect r="r" b="b" t="t" l="l"/>
              <a:pathLst>
                <a:path h="991373" w="6253127">
                  <a:moveTo>
                    <a:pt x="0" y="0"/>
                  </a:moveTo>
                  <a:lnTo>
                    <a:pt x="6253127" y="0"/>
                  </a:lnTo>
                  <a:lnTo>
                    <a:pt x="6253127" y="991373"/>
                  </a:lnTo>
                  <a:lnTo>
                    <a:pt x="0" y="9913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02" r="0" b="-7290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85725"/>
              <a:ext cx="6253124" cy="1077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36"/>
                </a:lnSpc>
              </a:pPr>
              <a:r>
                <a:rPr lang="en-US" sz="143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Classifier reduces compute cost by filtering healthy scans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520034" y="6320009"/>
            <a:ext cx="5261781" cy="1944614"/>
            <a:chOff x="0" y="0"/>
            <a:chExt cx="7015709" cy="259281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015735" cy="2592832"/>
            </a:xfrm>
            <a:custGeom>
              <a:avLst/>
              <a:gdLst/>
              <a:ahLst/>
              <a:cxnLst/>
              <a:rect r="r" b="b" t="t" l="l"/>
              <a:pathLst>
                <a:path h="2592832" w="7015735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6558153" y="0"/>
                  </a:lnTo>
                  <a:cubicBezTo>
                    <a:pt x="6810883" y="0"/>
                    <a:pt x="7015735" y="204851"/>
                    <a:pt x="7015735" y="457581"/>
                  </a:cubicBezTo>
                  <a:lnTo>
                    <a:pt x="7015735" y="2135251"/>
                  </a:lnTo>
                  <a:cubicBezTo>
                    <a:pt x="7015735" y="2387981"/>
                    <a:pt x="6810883" y="2592832"/>
                    <a:pt x="6558153" y="2592832"/>
                  </a:cubicBezTo>
                  <a:lnTo>
                    <a:pt x="457581" y="2592832"/>
                  </a:lnTo>
                  <a:cubicBezTo>
                    <a:pt x="204851" y="2592832"/>
                    <a:pt x="0" y="2387981"/>
                    <a:pt x="0" y="2135251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805994" y="6710362"/>
            <a:ext cx="343157" cy="248793"/>
            <a:chOff x="0" y="0"/>
            <a:chExt cx="457543" cy="331724"/>
          </a:xfrm>
        </p:grpSpPr>
        <p:sp>
          <p:nvSpPr>
            <p:cNvPr name="Freeform 78" id="78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" t="0" r="6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7320734" y="6634582"/>
            <a:ext cx="2559396" cy="400364"/>
            <a:chOff x="0" y="0"/>
            <a:chExt cx="3412528" cy="53381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412530" cy="533815"/>
            </a:xfrm>
            <a:custGeom>
              <a:avLst/>
              <a:gdLst/>
              <a:ahLst/>
              <a:cxnLst/>
              <a:rect r="r" b="b" t="t" l="l"/>
              <a:pathLst>
                <a:path h="533815" w="3412530">
                  <a:moveTo>
                    <a:pt x="0" y="0"/>
                  </a:moveTo>
                  <a:lnTo>
                    <a:pt x="3412530" y="0"/>
                  </a:lnTo>
                  <a:lnTo>
                    <a:pt x="3412530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561" r="0" b="-7456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0"/>
              <a:ext cx="3412528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False Positive Control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805994" y="7235123"/>
            <a:ext cx="4689843" cy="743531"/>
            <a:chOff x="0" y="0"/>
            <a:chExt cx="6253124" cy="99137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253127" cy="991373"/>
            </a:xfrm>
            <a:custGeom>
              <a:avLst/>
              <a:gdLst/>
              <a:ahLst/>
              <a:cxnLst/>
              <a:rect r="r" b="b" t="t" l="l"/>
              <a:pathLst>
                <a:path h="991373" w="6253127">
                  <a:moveTo>
                    <a:pt x="0" y="0"/>
                  </a:moveTo>
                  <a:lnTo>
                    <a:pt x="6253127" y="0"/>
                  </a:lnTo>
                  <a:lnTo>
                    <a:pt x="6253127" y="991373"/>
                  </a:lnTo>
                  <a:lnTo>
                    <a:pt x="0" y="9913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02" r="0" b="-7290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85725"/>
              <a:ext cx="6253124" cy="1077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36"/>
                </a:lnSpc>
              </a:pPr>
              <a:r>
                <a:rPr lang="en-US" sz="143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Segmentor acts as safety filter, eliminating false positives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124973" y="6320009"/>
            <a:ext cx="5261781" cy="1944614"/>
            <a:chOff x="0" y="0"/>
            <a:chExt cx="7015709" cy="259281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015735" cy="2592832"/>
            </a:xfrm>
            <a:custGeom>
              <a:avLst/>
              <a:gdLst/>
              <a:ahLst/>
              <a:cxnLst/>
              <a:rect r="r" b="b" t="t" l="l"/>
              <a:pathLst>
                <a:path h="2592832" w="7015735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6558153" y="0"/>
                  </a:lnTo>
                  <a:cubicBezTo>
                    <a:pt x="6810883" y="0"/>
                    <a:pt x="7015735" y="204851"/>
                    <a:pt x="7015735" y="457581"/>
                  </a:cubicBezTo>
                  <a:lnTo>
                    <a:pt x="7015735" y="2135251"/>
                  </a:lnTo>
                  <a:cubicBezTo>
                    <a:pt x="7015735" y="2387981"/>
                    <a:pt x="6810883" y="2592832"/>
                    <a:pt x="6558153" y="2592832"/>
                  </a:cubicBezTo>
                  <a:lnTo>
                    <a:pt x="457581" y="2592832"/>
                  </a:lnTo>
                  <a:cubicBezTo>
                    <a:pt x="204851" y="2592832"/>
                    <a:pt x="0" y="2387981"/>
                    <a:pt x="0" y="2135251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2410932" y="6695351"/>
            <a:ext cx="343157" cy="278825"/>
            <a:chOff x="0" y="0"/>
            <a:chExt cx="457543" cy="371767"/>
          </a:xfrm>
        </p:grpSpPr>
        <p:sp>
          <p:nvSpPr>
            <p:cNvPr name="Freeform 88" id="88" descr="image.png"/>
            <p:cNvSpPr/>
            <p:nvPr/>
          </p:nvSpPr>
          <p:spPr>
            <a:xfrm flipH="false" flipV="false" rot="0">
              <a:off x="0" y="0"/>
              <a:ext cx="457581" cy="371729"/>
            </a:xfrm>
            <a:custGeom>
              <a:avLst/>
              <a:gdLst/>
              <a:ahLst/>
              <a:cxnLst/>
              <a:rect r="r" b="b" t="t" l="l"/>
              <a:pathLst>
                <a:path h="371729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71729"/>
                  </a:lnTo>
                  <a:lnTo>
                    <a:pt x="0" y="371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" t="0" r="6" b="-1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925673" y="6634582"/>
            <a:ext cx="1973170" cy="400364"/>
            <a:chOff x="0" y="0"/>
            <a:chExt cx="2630894" cy="53381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630889" cy="533815"/>
            </a:xfrm>
            <a:custGeom>
              <a:avLst/>
              <a:gdLst/>
              <a:ahLst/>
              <a:cxnLst/>
              <a:rect r="r" b="b" t="t" l="l"/>
              <a:pathLst>
                <a:path h="533815" w="2630889">
                  <a:moveTo>
                    <a:pt x="0" y="0"/>
                  </a:moveTo>
                  <a:lnTo>
                    <a:pt x="2630889" y="0"/>
                  </a:lnTo>
                  <a:lnTo>
                    <a:pt x="263088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031" r="0" b="-4603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0"/>
              <a:ext cx="2630894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Cascade System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410932" y="7235123"/>
            <a:ext cx="4689843" cy="743531"/>
            <a:chOff x="0" y="0"/>
            <a:chExt cx="6253124" cy="99137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253127" cy="991373"/>
            </a:xfrm>
            <a:custGeom>
              <a:avLst/>
              <a:gdLst/>
              <a:ahLst/>
              <a:cxnLst/>
              <a:rect r="r" b="b" t="t" l="l"/>
              <a:pathLst>
                <a:path h="991373" w="6253127">
                  <a:moveTo>
                    <a:pt x="0" y="0"/>
                  </a:moveTo>
                  <a:lnTo>
                    <a:pt x="6253127" y="0"/>
                  </a:lnTo>
                  <a:lnTo>
                    <a:pt x="6253127" y="991373"/>
                  </a:lnTo>
                  <a:lnTo>
                    <a:pt x="0" y="9913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902" r="0" b="-7290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85725"/>
              <a:ext cx="6253124" cy="1077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36"/>
                </a:lnSpc>
              </a:pPr>
              <a:r>
                <a:rPr lang="en-US" sz="143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Two-stage design maximizes accuracy while minimizing resources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3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66010" y="543354"/>
            <a:ext cx="7320734" cy="1715843"/>
            <a:chOff x="0" y="0"/>
            <a:chExt cx="9760979" cy="22877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60982" cy="2287787"/>
            </a:xfrm>
            <a:custGeom>
              <a:avLst/>
              <a:gdLst/>
              <a:ahLst/>
              <a:cxnLst/>
              <a:rect r="r" b="b" t="t" l="l"/>
              <a:pathLst>
                <a:path h="2287787" w="9760982">
                  <a:moveTo>
                    <a:pt x="0" y="0"/>
                  </a:moveTo>
                  <a:lnTo>
                    <a:pt x="9760982" y="0"/>
                  </a:lnTo>
                  <a:lnTo>
                    <a:pt x="9760982" y="2287787"/>
                  </a:lnTo>
                  <a:lnTo>
                    <a:pt x="0" y="22877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133" r="0" b="-331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9760979" cy="2373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54"/>
                </a:lnSpc>
              </a:pPr>
              <a:r>
                <a:rPr lang="en-US" sz="4308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Stage 1: Classification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66010" y="2487968"/>
            <a:ext cx="7320734" cy="514750"/>
            <a:chOff x="0" y="0"/>
            <a:chExt cx="9760979" cy="686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60982" cy="686336"/>
            </a:xfrm>
            <a:custGeom>
              <a:avLst/>
              <a:gdLst/>
              <a:ahLst/>
              <a:cxnLst/>
              <a:rect r="r" b="b" t="t" l="l"/>
              <a:pathLst>
                <a:path h="686336" w="9760982">
                  <a:moveTo>
                    <a:pt x="0" y="0"/>
                  </a:moveTo>
                  <a:lnTo>
                    <a:pt x="9760982" y="0"/>
                  </a:lnTo>
                  <a:lnTo>
                    <a:pt x="9760982" y="686336"/>
                  </a:lnTo>
                  <a:lnTo>
                    <a:pt x="0" y="686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113" r="0" b="-2271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760979" cy="733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2"/>
                </a:lnSpc>
              </a:pPr>
              <a:r>
                <a:rPr lang="en-US" sz="2693" b="true">
                  <a:solidFill>
                    <a:srgbClr val="7DE54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ResNet50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66010" y="3174302"/>
            <a:ext cx="1143867" cy="57198"/>
            <a:chOff x="0" y="0"/>
            <a:chExt cx="1525156" cy="76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5143" cy="76200"/>
            </a:xfrm>
            <a:custGeom>
              <a:avLst/>
              <a:gdLst/>
              <a:ahLst/>
              <a:cxnLst/>
              <a:rect r="r" b="b" t="t" l="l"/>
              <a:pathLst>
                <a:path h="76200" w="1525143">
                  <a:moveTo>
                    <a:pt x="0" y="0"/>
                  </a:moveTo>
                  <a:lnTo>
                    <a:pt x="1525143" y="0"/>
                  </a:lnTo>
                  <a:lnTo>
                    <a:pt x="152514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DE54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66010" y="3689061"/>
            <a:ext cx="686314" cy="686333"/>
            <a:chOff x="0" y="0"/>
            <a:chExt cx="915086" cy="9151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610108" y="0"/>
                  </a:lnTo>
                  <a:cubicBezTo>
                    <a:pt x="778510" y="0"/>
                    <a:pt x="915035" y="136525"/>
                    <a:pt x="915035" y="305054"/>
                  </a:cubicBezTo>
                  <a:lnTo>
                    <a:pt x="915035" y="610108"/>
                  </a:lnTo>
                  <a:cubicBezTo>
                    <a:pt x="915035" y="778510"/>
                    <a:pt x="778510" y="915162"/>
                    <a:pt x="609981" y="915162"/>
                  </a:cubicBezTo>
                  <a:lnTo>
                    <a:pt x="305054" y="915162"/>
                  </a:lnTo>
                  <a:cubicBezTo>
                    <a:pt x="136525" y="915162"/>
                    <a:pt x="0" y="778510"/>
                    <a:pt x="0" y="610108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37594" y="3899249"/>
            <a:ext cx="343157" cy="265957"/>
            <a:chOff x="0" y="0"/>
            <a:chExt cx="457543" cy="354609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57581" cy="354584"/>
            </a:xfrm>
            <a:custGeom>
              <a:avLst/>
              <a:gdLst/>
              <a:ahLst/>
              <a:cxnLst/>
              <a:rect r="r" b="b" t="t" l="l"/>
              <a:pathLst>
                <a:path h="35458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54584"/>
                  </a:lnTo>
                  <a:lnTo>
                    <a:pt x="0" y="354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6" b="-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81106" y="3689061"/>
            <a:ext cx="6405648" cy="400364"/>
            <a:chOff x="0" y="0"/>
            <a:chExt cx="8540864" cy="5338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8540864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Architecture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81106" y="4146614"/>
            <a:ext cx="6405648" cy="400364"/>
            <a:chOff x="0" y="0"/>
            <a:chExt cx="8540864" cy="5338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8540864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Pretrained ResNet50 + custom classification head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66010" y="4890145"/>
            <a:ext cx="686314" cy="686333"/>
            <a:chOff x="0" y="0"/>
            <a:chExt cx="915086" cy="9151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610108" y="0"/>
                  </a:lnTo>
                  <a:cubicBezTo>
                    <a:pt x="778510" y="0"/>
                    <a:pt x="915035" y="136525"/>
                    <a:pt x="915035" y="305054"/>
                  </a:cubicBezTo>
                  <a:lnTo>
                    <a:pt x="915035" y="610108"/>
                  </a:lnTo>
                  <a:cubicBezTo>
                    <a:pt x="915035" y="778510"/>
                    <a:pt x="778510" y="915162"/>
                    <a:pt x="609981" y="915162"/>
                  </a:cubicBezTo>
                  <a:lnTo>
                    <a:pt x="305054" y="915162"/>
                  </a:lnTo>
                  <a:cubicBezTo>
                    <a:pt x="136525" y="915162"/>
                    <a:pt x="0" y="778510"/>
                    <a:pt x="0" y="610108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37594" y="5108915"/>
            <a:ext cx="343157" cy="248793"/>
            <a:chOff x="0" y="0"/>
            <a:chExt cx="457543" cy="331724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981106" y="4890145"/>
            <a:ext cx="6405648" cy="400364"/>
            <a:chOff x="0" y="0"/>
            <a:chExt cx="8540864" cy="5338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8540864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Loss Function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981106" y="5347697"/>
            <a:ext cx="6405648" cy="400364"/>
            <a:chOff x="0" y="0"/>
            <a:chExt cx="8540864" cy="5338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0"/>
              <a:ext cx="8540864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Categorical cross-entropy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066010" y="6091238"/>
            <a:ext cx="686314" cy="686333"/>
            <a:chOff x="0" y="0"/>
            <a:chExt cx="915086" cy="9151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610108" y="0"/>
                  </a:lnTo>
                  <a:cubicBezTo>
                    <a:pt x="778510" y="0"/>
                    <a:pt x="915035" y="136525"/>
                    <a:pt x="915035" y="305054"/>
                  </a:cubicBezTo>
                  <a:lnTo>
                    <a:pt x="915035" y="610108"/>
                  </a:lnTo>
                  <a:cubicBezTo>
                    <a:pt x="915035" y="778510"/>
                    <a:pt x="778510" y="915162"/>
                    <a:pt x="609981" y="915162"/>
                  </a:cubicBezTo>
                  <a:lnTo>
                    <a:pt x="305054" y="915162"/>
                  </a:lnTo>
                  <a:cubicBezTo>
                    <a:pt x="136525" y="915162"/>
                    <a:pt x="0" y="778510"/>
                    <a:pt x="0" y="610108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237594" y="6301426"/>
            <a:ext cx="343157" cy="265957"/>
            <a:chOff x="0" y="0"/>
            <a:chExt cx="457543" cy="354609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457581" cy="354584"/>
            </a:xfrm>
            <a:custGeom>
              <a:avLst/>
              <a:gdLst/>
              <a:ahLst/>
              <a:cxnLst/>
              <a:rect r="r" b="b" t="t" l="l"/>
              <a:pathLst>
                <a:path h="35458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54584"/>
                  </a:lnTo>
                  <a:lnTo>
                    <a:pt x="0" y="354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6" b="-7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981106" y="6091238"/>
            <a:ext cx="6405648" cy="400364"/>
            <a:chOff x="0" y="0"/>
            <a:chExt cx="8540864" cy="5338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8540864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Training Parameters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981106" y="6548790"/>
            <a:ext cx="6405648" cy="400364"/>
            <a:chOff x="0" y="0"/>
            <a:chExt cx="8540864" cy="53381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0"/>
              <a:ext cx="8540864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Adam optimizer, LR = 1e-4, 30 epochs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066010" y="7292321"/>
            <a:ext cx="686314" cy="686333"/>
            <a:chOff x="0" y="0"/>
            <a:chExt cx="915086" cy="9151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610108" y="0"/>
                  </a:lnTo>
                  <a:cubicBezTo>
                    <a:pt x="778510" y="0"/>
                    <a:pt x="915035" y="136525"/>
                    <a:pt x="915035" y="305054"/>
                  </a:cubicBezTo>
                  <a:lnTo>
                    <a:pt x="915035" y="610108"/>
                  </a:lnTo>
                  <a:cubicBezTo>
                    <a:pt x="915035" y="778510"/>
                    <a:pt x="778510" y="915162"/>
                    <a:pt x="609981" y="915162"/>
                  </a:cubicBezTo>
                  <a:lnTo>
                    <a:pt x="305054" y="915162"/>
                  </a:lnTo>
                  <a:cubicBezTo>
                    <a:pt x="136525" y="915162"/>
                    <a:pt x="0" y="778510"/>
                    <a:pt x="0" y="610108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237594" y="7541114"/>
            <a:ext cx="343157" cy="188738"/>
            <a:chOff x="0" y="0"/>
            <a:chExt cx="457543" cy="251651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457581" cy="251714"/>
            </a:xfrm>
            <a:custGeom>
              <a:avLst/>
              <a:gdLst/>
              <a:ahLst/>
              <a:cxnLst/>
              <a:rect r="r" b="b" t="t" l="l"/>
              <a:pathLst>
                <a:path h="25171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251714"/>
                  </a:lnTo>
                  <a:lnTo>
                    <a:pt x="0" y="25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6" b="25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981106" y="7292321"/>
            <a:ext cx="6405648" cy="400364"/>
            <a:chOff x="0" y="0"/>
            <a:chExt cx="8540864" cy="53381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8540864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Fine-Tuning Strategy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81106" y="7749883"/>
            <a:ext cx="6405648" cy="400364"/>
            <a:chOff x="0" y="0"/>
            <a:chExt cx="8540864" cy="53381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0"/>
              <a:ext cx="8540864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Unfreeze top layers, reduced LR = 1e-5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066010" y="9286570"/>
            <a:ext cx="285969" cy="243916"/>
            <a:chOff x="0" y="0"/>
            <a:chExt cx="381292" cy="325222"/>
          </a:xfrm>
        </p:grpSpPr>
        <p:sp>
          <p:nvSpPr>
            <p:cNvPr name="Freeform 51" id="51" descr="image.png"/>
            <p:cNvSpPr/>
            <p:nvPr/>
          </p:nvSpPr>
          <p:spPr>
            <a:xfrm flipH="false" flipV="false" rot="0">
              <a:off x="0" y="0"/>
              <a:ext cx="381254" cy="325247"/>
            </a:xfrm>
            <a:custGeom>
              <a:avLst/>
              <a:gdLst/>
              <a:ahLst/>
              <a:cxnLst/>
              <a:rect r="r" b="b" t="t" l="l"/>
              <a:pathLst>
                <a:path h="325247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25247"/>
                  </a:lnTo>
                  <a:lnTo>
                    <a:pt x="0" y="325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8" b="7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523553" y="9065352"/>
            <a:ext cx="6863191" cy="686333"/>
            <a:chOff x="0" y="0"/>
            <a:chExt cx="9150922" cy="91511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50919" cy="915115"/>
            </a:xfrm>
            <a:custGeom>
              <a:avLst/>
              <a:gdLst/>
              <a:ahLst/>
              <a:cxnLst/>
              <a:rect r="r" b="b" t="t" l="l"/>
              <a:pathLst>
                <a:path h="915115" w="9150919">
                  <a:moveTo>
                    <a:pt x="0" y="0"/>
                  </a:moveTo>
                  <a:lnTo>
                    <a:pt x="9150919" y="0"/>
                  </a:lnTo>
                  <a:lnTo>
                    <a:pt x="915091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45" r="0" b="-14484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9150922" cy="981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435">
                  <a:solidFill>
                    <a:srgbClr val="9CA3AF"/>
                  </a:solidFill>
                  <a:latin typeface="Roboto"/>
                  <a:ea typeface="Roboto"/>
                  <a:cs typeface="Roboto"/>
                  <a:sym typeface="Roboto"/>
                </a:rPr>
                <a:t>Transfer learning from ImageNet weights enables rapid convergence on medical images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353346" y="543354"/>
            <a:ext cx="9135655" cy="4120763"/>
          </a:xfrm>
          <a:custGeom>
            <a:avLst/>
            <a:gdLst/>
            <a:ahLst/>
            <a:cxnLst/>
            <a:rect r="r" b="b" t="t" l="l"/>
            <a:pathLst>
              <a:path h="4120763" w="9135655">
                <a:moveTo>
                  <a:pt x="0" y="0"/>
                </a:moveTo>
                <a:lnTo>
                  <a:pt x="9135655" y="0"/>
                </a:lnTo>
                <a:lnTo>
                  <a:pt x="9135655" y="4120763"/>
                </a:lnTo>
                <a:lnTo>
                  <a:pt x="0" y="41207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353346" y="5290509"/>
            <a:ext cx="9135655" cy="4077322"/>
          </a:xfrm>
          <a:custGeom>
            <a:avLst/>
            <a:gdLst/>
            <a:ahLst/>
            <a:cxnLst/>
            <a:rect r="r" b="b" t="t" l="l"/>
            <a:pathLst>
              <a:path h="4077322" w="9135655">
                <a:moveTo>
                  <a:pt x="0" y="0"/>
                </a:moveTo>
                <a:lnTo>
                  <a:pt x="9135655" y="0"/>
                </a:lnTo>
                <a:lnTo>
                  <a:pt x="9135655" y="4077322"/>
                </a:lnTo>
                <a:lnTo>
                  <a:pt x="0" y="40773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3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5095" y="314573"/>
            <a:ext cx="8335918" cy="571948"/>
            <a:chOff x="0" y="0"/>
            <a:chExt cx="11114557" cy="762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14555" cy="762594"/>
            </a:xfrm>
            <a:custGeom>
              <a:avLst/>
              <a:gdLst/>
              <a:ahLst/>
              <a:cxnLst/>
              <a:rect r="r" b="b" t="t" l="l"/>
              <a:pathLst>
                <a:path h="762594" w="11114555">
                  <a:moveTo>
                    <a:pt x="0" y="0"/>
                  </a:moveTo>
                  <a:lnTo>
                    <a:pt x="11114555" y="0"/>
                  </a:lnTo>
                  <a:lnTo>
                    <a:pt x="11114555" y="762594"/>
                  </a:lnTo>
                  <a:lnTo>
                    <a:pt x="0" y="7625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3987" r="0" b="-23398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114557" cy="791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03"/>
                </a:lnSpc>
              </a:pPr>
              <a:r>
                <a:rPr lang="en-US" sz="323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Classification Optimization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94171" y="571948"/>
            <a:ext cx="915095" cy="57198"/>
            <a:chOff x="0" y="0"/>
            <a:chExt cx="1220127" cy="762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089" cy="76200"/>
            </a:xfrm>
            <a:custGeom>
              <a:avLst/>
              <a:gdLst/>
              <a:ahLst/>
              <a:cxnLst/>
              <a:rect r="r" b="b" t="t" l="l"/>
              <a:pathLst>
                <a:path h="76200" w="1220089">
                  <a:moveTo>
                    <a:pt x="0" y="0"/>
                  </a:moveTo>
                  <a:lnTo>
                    <a:pt x="1220089" y="0"/>
                  </a:lnTo>
                  <a:lnTo>
                    <a:pt x="122008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DE54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5095" y="1973218"/>
            <a:ext cx="8007058" cy="2059010"/>
            <a:chOff x="0" y="0"/>
            <a:chExt cx="10676077" cy="27453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76128" cy="2745359"/>
            </a:xfrm>
            <a:custGeom>
              <a:avLst/>
              <a:gdLst/>
              <a:ahLst/>
              <a:cxnLst/>
              <a:rect r="r" b="b" t="t" l="l"/>
              <a:pathLst>
                <a:path h="2745359" w="10676128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10218547" y="0"/>
                  </a:lnTo>
                  <a:cubicBezTo>
                    <a:pt x="10471277" y="0"/>
                    <a:pt x="10676128" y="204851"/>
                    <a:pt x="10676128" y="457581"/>
                  </a:cubicBezTo>
                  <a:lnTo>
                    <a:pt x="10676128" y="2287778"/>
                  </a:lnTo>
                  <a:cubicBezTo>
                    <a:pt x="10676128" y="2540508"/>
                    <a:pt x="10471277" y="2745359"/>
                    <a:pt x="10218547" y="2745359"/>
                  </a:cubicBezTo>
                  <a:lnTo>
                    <a:pt x="457581" y="2745359"/>
                  </a:lnTo>
                  <a:cubicBezTo>
                    <a:pt x="204851" y="2745359"/>
                    <a:pt x="0" y="2540508"/>
                    <a:pt x="0" y="228777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58252" y="2316385"/>
            <a:ext cx="915095" cy="915114"/>
            <a:chOff x="0" y="0"/>
            <a:chExt cx="1220127" cy="12201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20216" cy="1220216"/>
            </a:xfrm>
            <a:custGeom>
              <a:avLst/>
              <a:gdLst/>
              <a:ahLst/>
              <a:cxnLst/>
              <a:rect r="r" b="b" t="t" l="l"/>
              <a:pathLst>
                <a:path h="1220216" w="1220216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762635" y="0"/>
                  </a:lnTo>
                  <a:cubicBezTo>
                    <a:pt x="1015365" y="0"/>
                    <a:pt x="1220216" y="204851"/>
                    <a:pt x="1220216" y="457581"/>
                  </a:cubicBezTo>
                  <a:lnTo>
                    <a:pt x="1220216" y="762635"/>
                  </a:lnTo>
                  <a:cubicBezTo>
                    <a:pt x="1220216" y="1015365"/>
                    <a:pt x="1015365" y="1220216"/>
                    <a:pt x="762635" y="1220216"/>
                  </a:cubicBezTo>
                  <a:lnTo>
                    <a:pt x="457581" y="1220216"/>
                  </a:lnTo>
                  <a:cubicBezTo>
                    <a:pt x="204851" y="1220216"/>
                    <a:pt x="0" y="1015365"/>
                    <a:pt x="0" y="762635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58430" y="2565378"/>
            <a:ext cx="514741" cy="417128"/>
            <a:chOff x="0" y="0"/>
            <a:chExt cx="686321" cy="556171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686308" cy="556133"/>
            </a:xfrm>
            <a:custGeom>
              <a:avLst/>
              <a:gdLst/>
              <a:ahLst/>
              <a:cxnLst/>
              <a:rect r="r" b="b" t="t" l="l"/>
              <a:pathLst>
                <a:path h="556133" w="686308">
                  <a:moveTo>
                    <a:pt x="0" y="0"/>
                  </a:moveTo>
                  <a:lnTo>
                    <a:pt x="686308" y="0"/>
                  </a:lnTo>
                  <a:lnTo>
                    <a:pt x="686308" y="556133"/>
                  </a:lnTo>
                  <a:lnTo>
                    <a:pt x="0" y="556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2" b="-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459307" y="2316385"/>
            <a:ext cx="6119679" cy="457562"/>
            <a:chOff x="0" y="0"/>
            <a:chExt cx="8159572" cy="6100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59571" cy="610077"/>
            </a:xfrm>
            <a:custGeom>
              <a:avLst/>
              <a:gdLst/>
              <a:ahLst/>
              <a:cxnLst/>
              <a:rect r="r" b="b" t="t" l="l"/>
              <a:pathLst>
                <a:path h="610077" w="8159571">
                  <a:moveTo>
                    <a:pt x="0" y="0"/>
                  </a:moveTo>
                  <a:lnTo>
                    <a:pt x="8159571" y="0"/>
                  </a:lnTo>
                  <a:lnTo>
                    <a:pt x="8159571" y="610077"/>
                  </a:lnTo>
                  <a:lnTo>
                    <a:pt x="0" y="6100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0605" r="0" b="-21060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8159572" cy="676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2"/>
                </a:lnSpc>
              </a:pPr>
              <a:r>
                <a:rPr lang="en-US" sz="2154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Fixed Class Weights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59307" y="2888332"/>
            <a:ext cx="6119679" cy="400364"/>
            <a:chOff x="0" y="0"/>
            <a:chExt cx="8159572" cy="5338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59571" cy="533815"/>
            </a:xfrm>
            <a:custGeom>
              <a:avLst/>
              <a:gdLst/>
              <a:ahLst/>
              <a:cxnLst/>
              <a:rect r="r" b="b" t="t" l="l"/>
              <a:pathLst>
                <a:path h="533815" w="8159571">
                  <a:moveTo>
                    <a:pt x="0" y="0"/>
                  </a:moveTo>
                  <a:lnTo>
                    <a:pt x="8159571" y="0"/>
                  </a:lnTo>
                  <a:lnTo>
                    <a:pt x="8159571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7836" r="0" b="-24783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8159572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Calculated from training subset only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459307" y="3345885"/>
            <a:ext cx="6119679" cy="343167"/>
            <a:chOff x="0" y="0"/>
            <a:chExt cx="8159572" cy="4575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59571" cy="457557"/>
            </a:xfrm>
            <a:custGeom>
              <a:avLst/>
              <a:gdLst/>
              <a:ahLst/>
              <a:cxnLst/>
              <a:rect r="r" b="b" t="t" l="l"/>
              <a:pathLst>
                <a:path h="457557" w="8159571">
                  <a:moveTo>
                    <a:pt x="0" y="0"/>
                  </a:moveTo>
                  <a:lnTo>
                    <a:pt x="8159571" y="0"/>
                  </a:lnTo>
                  <a:lnTo>
                    <a:pt x="815957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474" r="0" b="-29747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8159572" cy="524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435">
                  <a:solidFill>
                    <a:srgbClr val="9CA3AF"/>
                  </a:solidFill>
                  <a:latin typeface="Roboto"/>
                  <a:ea typeface="Roboto"/>
                  <a:cs typeface="Roboto"/>
                  <a:sym typeface="Roboto"/>
                </a:rPr>
                <a:t>Tumour: 1.43, Healthy: 0.77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79696" y="1973218"/>
            <a:ext cx="8007058" cy="2059010"/>
            <a:chOff x="0" y="0"/>
            <a:chExt cx="10676077" cy="274534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76128" cy="2745359"/>
            </a:xfrm>
            <a:custGeom>
              <a:avLst/>
              <a:gdLst/>
              <a:ahLst/>
              <a:cxnLst/>
              <a:rect r="r" b="b" t="t" l="l"/>
              <a:pathLst>
                <a:path h="2745359" w="10676128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10218547" y="0"/>
                  </a:lnTo>
                  <a:cubicBezTo>
                    <a:pt x="10471277" y="0"/>
                    <a:pt x="10676128" y="204851"/>
                    <a:pt x="10676128" y="457581"/>
                  </a:cubicBezTo>
                  <a:lnTo>
                    <a:pt x="10676128" y="2287778"/>
                  </a:lnTo>
                  <a:cubicBezTo>
                    <a:pt x="10676128" y="2540508"/>
                    <a:pt x="10471277" y="2745359"/>
                    <a:pt x="10218547" y="2745359"/>
                  </a:cubicBezTo>
                  <a:lnTo>
                    <a:pt x="457581" y="2745359"/>
                  </a:lnTo>
                  <a:cubicBezTo>
                    <a:pt x="204851" y="2745359"/>
                    <a:pt x="0" y="2540508"/>
                    <a:pt x="0" y="228777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722853" y="2316385"/>
            <a:ext cx="915095" cy="915114"/>
            <a:chOff x="0" y="0"/>
            <a:chExt cx="1220127" cy="12201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20216" cy="1220216"/>
            </a:xfrm>
            <a:custGeom>
              <a:avLst/>
              <a:gdLst/>
              <a:ahLst/>
              <a:cxnLst/>
              <a:rect r="r" b="b" t="t" l="l"/>
              <a:pathLst>
                <a:path h="1220216" w="1220216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762635" y="0"/>
                  </a:lnTo>
                  <a:cubicBezTo>
                    <a:pt x="1015365" y="0"/>
                    <a:pt x="1220216" y="204851"/>
                    <a:pt x="1220216" y="457581"/>
                  </a:cubicBezTo>
                  <a:lnTo>
                    <a:pt x="1220216" y="762635"/>
                  </a:lnTo>
                  <a:cubicBezTo>
                    <a:pt x="1220216" y="1015365"/>
                    <a:pt x="1015365" y="1220216"/>
                    <a:pt x="762635" y="1220216"/>
                  </a:cubicBezTo>
                  <a:lnTo>
                    <a:pt x="457581" y="1220216"/>
                  </a:lnTo>
                  <a:cubicBezTo>
                    <a:pt x="204851" y="1220216"/>
                    <a:pt x="0" y="1015365"/>
                    <a:pt x="0" y="762635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923031" y="2545413"/>
            <a:ext cx="514741" cy="457067"/>
            <a:chOff x="0" y="0"/>
            <a:chExt cx="686321" cy="609422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686308" cy="609473"/>
            </a:xfrm>
            <a:custGeom>
              <a:avLst/>
              <a:gdLst/>
              <a:ahLst/>
              <a:cxnLst/>
              <a:rect r="r" b="b" t="t" l="l"/>
              <a:pathLst>
                <a:path h="609473" w="686308">
                  <a:moveTo>
                    <a:pt x="0" y="0"/>
                  </a:moveTo>
                  <a:lnTo>
                    <a:pt x="686308" y="0"/>
                  </a:lnTo>
                  <a:lnTo>
                    <a:pt x="686308" y="609473"/>
                  </a:lnTo>
                  <a:lnTo>
                    <a:pt x="0" y="609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2" b="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923908" y="2316385"/>
            <a:ext cx="6119679" cy="457562"/>
            <a:chOff x="0" y="0"/>
            <a:chExt cx="8159572" cy="6100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59571" cy="610077"/>
            </a:xfrm>
            <a:custGeom>
              <a:avLst/>
              <a:gdLst/>
              <a:ahLst/>
              <a:cxnLst/>
              <a:rect r="r" b="b" t="t" l="l"/>
              <a:pathLst>
                <a:path h="610077" w="8159571">
                  <a:moveTo>
                    <a:pt x="0" y="0"/>
                  </a:moveTo>
                  <a:lnTo>
                    <a:pt x="8159571" y="0"/>
                  </a:lnTo>
                  <a:lnTo>
                    <a:pt x="8159571" y="610077"/>
                  </a:lnTo>
                  <a:lnTo>
                    <a:pt x="0" y="6100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0605" r="0" b="-21060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8159572" cy="676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2"/>
                </a:lnSpc>
              </a:pPr>
              <a:r>
                <a:rPr lang="en-US" sz="2154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Clean Augmentation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923908" y="2888332"/>
            <a:ext cx="6119679" cy="400364"/>
            <a:chOff x="0" y="0"/>
            <a:chExt cx="8159572" cy="53381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59571" cy="533815"/>
            </a:xfrm>
            <a:custGeom>
              <a:avLst/>
              <a:gdLst/>
              <a:ahLst/>
              <a:cxnLst/>
              <a:rect r="r" b="b" t="t" l="l"/>
              <a:pathLst>
                <a:path h="533815" w="8159571">
                  <a:moveTo>
                    <a:pt x="0" y="0"/>
                  </a:moveTo>
                  <a:lnTo>
                    <a:pt x="8159571" y="0"/>
                  </a:lnTo>
                  <a:lnTo>
                    <a:pt x="8159571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7836" r="0" b="-24783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0"/>
              <a:ext cx="8159572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Resolved double-augmentation bugs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923908" y="3345885"/>
            <a:ext cx="6119679" cy="343167"/>
            <a:chOff x="0" y="0"/>
            <a:chExt cx="8159572" cy="4575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59571" cy="457557"/>
            </a:xfrm>
            <a:custGeom>
              <a:avLst/>
              <a:gdLst/>
              <a:ahLst/>
              <a:cxnLst/>
              <a:rect r="r" b="b" t="t" l="l"/>
              <a:pathLst>
                <a:path h="457557" w="8159571">
                  <a:moveTo>
                    <a:pt x="0" y="0"/>
                  </a:moveTo>
                  <a:lnTo>
                    <a:pt x="8159571" y="0"/>
                  </a:lnTo>
                  <a:lnTo>
                    <a:pt x="815957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474" r="0" b="-29747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8159572" cy="524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435">
                  <a:solidFill>
                    <a:srgbClr val="9CA3AF"/>
                  </a:solidFill>
                  <a:latin typeface="Roboto"/>
                  <a:ea typeface="Roboto"/>
                  <a:cs typeface="Roboto"/>
                  <a:sym typeface="Roboto"/>
                </a:rPr>
                <a:t>Spatial + pixel-level augmentations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5095" y="4489780"/>
            <a:ext cx="8007058" cy="2187692"/>
            <a:chOff x="0" y="0"/>
            <a:chExt cx="10676077" cy="291692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76128" cy="2916936"/>
            </a:xfrm>
            <a:custGeom>
              <a:avLst/>
              <a:gdLst/>
              <a:ahLst/>
              <a:cxnLst/>
              <a:rect r="r" b="b" t="t" l="l"/>
              <a:pathLst>
                <a:path h="2916936" w="10676128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10218547" y="0"/>
                  </a:lnTo>
                  <a:cubicBezTo>
                    <a:pt x="10471277" y="0"/>
                    <a:pt x="10676128" y="204851"/>
                    <a:pt x="10676128" y="457581"/>
                  </a:cubicBezTo>
                  <a:lnTo>
                    <a:pt x="10676128" y="2459355"/>
                  </a:lnTo>
                  <a:cubicBezTo>
                    <a:pt x="10676128" y="2712085"/>
                    <a:pt x="10471277" y="2916936"/>
                    <a:pt x="10218547" y="2916936"/>
                  </a:cubicBezTo>
                  <a:lnTo>
                    <a:pt x="457581" y="2916936"/>
                  </a:lnTo>
                  <a:cubicBezTo>
                    <a:pt x="204851" y="2916936"/>
                    <a:pt x="0" y="2712085"/>
                    <a:pt x="0" y="2459355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58252" y="4832947"/>
            <a:ext cx="915095" cy="915114"/>
            <a:chOff x="0" y="0"/>
            <a:chExt cx="1220127" cy="12201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20216" cy="1220216"/>
            </a:xfrm>
            <a:custGeom>
              <a:avLst/>
              <a:gdLst/>
              <a:ahLst/>
              <a:cxnLst/>
              <a:rect r="r" b="b" t="t" l="l"/>
              <a:pathLst>
                <a:path h="1220216" w="1220216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762635" y="0"/>
                  </a:lnTo>
                  <a:cubicBezTo>
                    <a:pt x="1015365" y="0"/>
                    <a:pt x="1220216" y="204851"/>
                    <a:pt x="1220216" y="457581"/>
                  </a:cubicBezTo>
                  <a:lnTo>
                    <a:pt x="1220216" y="762635"/>
                  </a:lnTo>
                  <a:cubicBezTo>
                    <a:pt x="1220216" y="1015365"/>
                    <a:pt x="1015365" y="1220216"/>
                    <a:pt x="762635" y="1220216"/>
                  </a:cubicBezTo>
                  <a:lnTo>
                    <a:pt x="457581" y="1220216"/>
                  </a:lnTo>
                  <a:cubicBezTo>
                    <a:pt x="204851" y="1220216"/>
                    <a:pt x="0" y="1015365"/>
                    <a:pt x="0" y="762635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458430" y="5090817"/>
            <a:ext cx="514741" cy="399374"/>
            <a:chOff x="0" y="0"/>
            <a:chExt cx="686321" cy="532498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686308" cy="532511"/>
            </a:xfrm>
            <a:custGeom>
              <a:avLst/>
              <a:gdLst/>
              <a:ahLst/>
              <a:cxnLst/>
              <a:rect r="r" b="b" t="t" l="l"/>
              <a:pathLst>
                <a:path h="532511" w="686308">
                  <a:moveTo>
                    <a:pt x="0" y="0"/>
                  </a:moveTo>
                  <a:lnTo>
                    <a:pt x="686308" y="0"/>
                  </a:lnTo>
                  <a:lnTo>
                    <a:pt x="686308" y="532511"/>
                  </a:lnTo>
                  <a:lnTo>
                    <a:pt x="0" y="532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2" b="2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459307" y="4832947"/>
            <a:ext cx="6119679" cy="457562"/>
            <a:chOff x="0" y="0"/>
            <a:chExt cx="8159572" cy="61008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59571" cy="610077"/>
            </a:xfrm>
            <a:custGeom>
              <a:avLst/>
              <a:gdLst/>
              <a:ahLst/>
              <a:cxnLst/>
              <a:rect r="r" b="b" t="t" l="l"/>
              <a:pathLst>
                <a:path h="610077" w="8159571">
                  <a:moveTo>
                    <a:pt x="0" y="0"/>
                  </a:moveTo>
                  <a:lnTo>
                    <a:pt x="8159571" y="0"/>
                  </a:lnTo>
                  <a:lnTo>
                    <a:pt x="8159571" y="610077"/>
                  </a:lnTo>
                  <a:lnTo>
                    <a:pt x="0" y="6100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0605" r="0" b="-21060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8159572" cy="676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2"/>
                </a:lnSpc>
              </a:pPr>
              <a:r>
                <a:rPr lang="en-US" sz="2154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Threshold Sweep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459307" y="5404895"/>
            <a:ext cx="6119679" cy="400364"/>
            <a:chOff x="0" y="0"/>
            <a:chExt cx="8159572" cy="5338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59571" cy="533815"/>
            </a:xfrm>
            <a:custGeom>
              <a:avLst/>
              <a:gdLst/>
              <a:ahLst/>
              <a:cxnLst/>
              <a:rect r="r" b="b" t="t" l="l"/>
              <a:pathLst>
                <a:path h="533815" w="8159571">
                  <a:moveTo>
                    <a:pt x="0" y="0"/>
                  </a:moveTo>
                  <a:lnTo>
                    <a:pt x="8159571" y="0"/>
                  </a:lnTo>
                  <a:lnTo>
                    <a:pt x="8159571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7836" r="0" b="-24783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0"/>
              <a:ext cx="8159572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Systematic exploration 0.15 → 0.50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459307" y="5862457"/>
            <a:ext cx="6119679" cy="343167"/>
            <a:chOff x="0" y="0"/>
            <a:chExt cx="8159572" cy="4575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59571" cy="457557"/>
            </a:xfrm>
            <a:custGeom>
              <a:avLst/>
              <a:gdLst/>
              <a:ahLst/>
              <a:cxnLst/>
              <a:rect r="r" b="b" t="t" l="l"/>
              <a:pathLst>
                <a:path h="457557" w="8159571">
                  <a:moveTo>
                    <a:pt x="0" y="0"/>
                  </a:moveTo>
                  <a:lnTo>
                    <a:pt x="8159571" y="0"/>
                  </a:lnTo>
                  <a:lnTo>
                    <a:pt x="815957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474" r="0" b="-29747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8159572" cy="524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435">
                  <a:solidFill>
                    <a:srgbClr val="9CA3AF"/>
                  </a:solidFill>
                  <a:latin typeface="Roboto"/>
                  <a:ea typeface="Roboto"/>
                  <a:cs typeface="Roboto"/>
                  <a:sym typeface="Roboto"/>
                </a:rPr>
                <a:t>Balancing precision and recall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379696" y="4489780"/>
            <a:ext cx="8007058" cy="2187692"/>
            <a:chOff x="0" y="0"/>
            <a:chExt cx="10676077" cy="291692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676128" cy="2916936"/>
            </a:xfrm>
            <a:custGeom>
              <a:avLst/>
              <a:gdLst/>
              <a:ahLst/>
              <a:cxnLst/>
              <a:rect r="r" b="b" t="t" l="l"/>
              <a:pathLst>
                <a:path h="2916936" w="10676128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10218547" y="0"/>
                  </a:lnTo>
                  <a:cubicBezTo>
                    <a:pt x="10471277" y="0"/>
                    <a:pt x="10676128" y="204851"/>
                    <a:pt x="10676128" y="457581"/>
                  </a:cubicBezTo>
                  <a:lnTo>
                    <a:pt x="10676128" y="2459355"/>
                  </a:lnTo>
                  <a:cubicBezTo>
                    <a:pt x="10676128" y="2712085"/>
                    <a:pt x="10471277" y="2916936"/>
                    <a:pt x="10218547" y="2916936"/>
                  </a:cubicBezTo>
                  <a:lnTo>
                    <a:pt x="457581" y="2916936"/>
                  </a:lnTo>
                  <a:cubicBezTo>
                    <a:pt x="204851" y="2916936"/>
                    <a:pt x="0" y="2712085"/>
                    <a:pt x="0" y="2459355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722853" y="4832947"/>
            <a:ext cx="915095" cy="915114"/>
            <a:chOff x="0" y="0"/>
            <a:chExt cx="1220127" cy="122015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20216" cy="1220216"/>
            </a:xfrm>
            <a:custGeom>
              <a:avLst/>
              <a:gdLst/>
              <a:ahLst/>
              <a:cxnLst/>
              <a:rect r="r" b="b" t="t" l="l"/>
              <a:pathLst>
                <a:path h="1220216" w="1220216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762635" y="0"/>
                  </a:lnTo>
                  <a:cubicBezTo>
                    <a:pt x="1015365" y="0"/>
                    <a:pt x="1220216" y="204851"/>
                    <a:pt x="1220216" y="457581"/>
                  </a:cubicBezTo>
                  <a:lnTo>
                    <a:pt x="1220216" y="762635"/>
                  </a:lnTo>
                  <a:cubicBezTo>
                    <a:pt x="1220216" y="1015365"/>
                    <a:pt x="1015365" y="1220216"/>
                    <a:pt x="762635" y="1220216"/>
                  </a:cubicBezTo>
                  <a:lnTo>
                    <a:pt x="457581" y="1220216"/>
                  </a:lnTo>
                  <a:cubicBezTo>
                    <a:pt x="204851" y="1220216"/>
                    <a:pt x="0" y="1015365"/>
                    <a:pt x="0" y="762635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923031" y="5073072"/>
            <a:ext cx="514741" cy="434873"/>
            <a:chOff x="0" y="0"/>
            <a:chExt cx="686321" cy="579831"/>
          </a:xfrm>
        </p:grpSpPr>
        <p:sp>
          <p:nvSpPr>
            <p:cNvPr name="Freeform 57" id="57" descr="image.png"/>
            <p:cNvSpPr/>
            <p:nvPr/>
          </p:nvSpPr>
          <p:spPr>
            <a:xfrm flipH="false" flipV="false" rot="0">
              <a:off x="0" y="0"/>
              <a:ext cx="686308" cy="579882"/>
            </a:xfrm>
            <a:custGeom>
              <a:avLst/>
              <a:gdLst/>
              <a:ahLst/>
              <a:cxnLst/>
              <a:rect r="r" b="b" t="t" l="l"/>
              <a:pathLst>
                <a:path h="579882" w="686308">
                  <a:moveTo>
                    <a:pt x="0" y="0"/>
                  </a:moveTo>
                  <a:lnTo>
                    <a:pt x="686308" y="0"/>
                  </a:lnTo>
                  <a:lnTo>
                    <a:pt x="686308" y="579882"/>
                  </a:lnTo>
                  <a:lnTo>
                    <a:pt x="0" y="579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2" b="8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923908" y="4832947"/>
            <a:ext cx="6119679" cy="457562"/>
            <a:chOff x="0" y="0"/>
            <a:chExt cx="8159572" cy="61008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59571" cy="610077"/>
            </a:xfrm>
            <a:custGeom>
              <a:avLst/>
              <a:gdLst/>
              <a:ahLst/>
              <a:cxnLst/>
              <a:rect r="r" b="b" t="t" l="l"/>
              <a:pathLst>
                <a:path h="610077" w="8159571">
                  <a:moveTo>
                    <a:pt x="0" y="0"/>
                  </a:moveTo>
                  <a:lnTo>
                    <a:pt x="8159571" y="0"/>
                  </a:lnTo>
                  <a:lnTo>
                    <a:pt x="8159571" y="610077"/>
                  </a:lnTo>
                  <a:lnTo>
                    <a:pt x="0" y="6100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0605" r="0" b="-21060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8159572" cy="676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2"/>
                </a:lnSpc>
              </a:pPr>
              <a:r>
                <a:rPr lang="en-US" sz="2154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Optimal Threshold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923908" y="5404895"/>
            <a:ext cx="6119679" cy="529047"/>
            <a:chOff x="0" y="0"/>
            <a:chExt cx="8159572" cy="7053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59571" cy="705399"/>
            </a:xfrm>
            <a:custGeom>
              <a:avLst/>
              <a:gdLst/>
              <a:ahLst/>
              <a:cxnLst/>
              <a:rect r="r" b="b" t="t" l="l"/>
              <a:pathLst>
                <a:path h="705399" w="8159571">
                  <a:moveTo>
                    <a:pt x="0" y="0"/>
                  </a:moveTo>
                  <a:lnTo>
                    <a:pt x="8159571" y="0"/>
                  </a:lnTo>
                  <a:lnTo>
                    <a:pt x="8159571" y="705399"/>
                  </a:lnTo>
                  <a:lnTo>
                    <a:pt x="0" y="7053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389" r="0" b="-17538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0"/>
              <a:ext cx="8159572" cy="8006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Clinical threshold: </a:t>
              </a:r>
              <a:r>
                <a:rPr lang="en-US" sz="1615" b="true">
                  <a:solidFill>
                    <a:srgbClr val="7DE545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0.25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923908" y="5976842"/>
            <a:ext cx="6119679" cy="343167"/>
            <a:chOff x="0" y="0"/>
            <a:chExt cx="8159572" cy="4575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59571" cy="457557"/>
            </a:xfrm>
            <a:custGeom>
              <a:avLst/>
              <a:gdLst/>
              <a:ahLst/>
              <a:cxnLst/>
              <a:rect r="r" b="b" t="t" l="l"/>
              <a:pathLst>
                <a:path h="457557" w="8159571">
                  <a:moveTo>
                    <a:pt x="0" y="0"/>
                  </a:moveTo>
                  <a:lnTo>
                    <a:pt x="8159571" y="0"/>
                  </a:lnTo>
                  <a:lnTo>
                    <a:pt x="815957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7474" r="0" b="-29747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8159572" cy="524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435">
                  <a:solidFill>
                    <a:srgbClr val="9CA3AF"/>
                  </a:solidFill>
                  <a:latin typeface="Roboto"/>
                  <a:ea typeface="Roboto"/>
                  <a:cs typeface="Roboto"/>
                  <a:sym typeface="Roboto"/>
                </a:rPr>
                <a:t>Minimizes false negatives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15095" y="7349519"/>
            <a:ext cx="16471659" cy="2187692"/>
            <a:chOff x="0" y="0"/>
            <a:chExt cx="21962212" cy="291692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962238" cy="2916936"/>
            </a:xfrm>
            <a:custGeom>
              <a:avLst/>
              <a:gdLst/>
              <a:ahLst/>
              <a:cxnLst/>
              <a:rect r="r" b="b" t="t" l="l"/>
              <a:pathLst>
                <a:path h="2916936" w="21962238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21504656" y="0"/>
                  </a:lnTo>
                  <a:cubicBezTo>
                    <a:pt x="21757387" y="0"/>
                    <a:pt x="21962238" y="204851"/>
                    <a:pt x="21962238" y="457581"/>
                  </a:cubicBezTo>
                  <a:lnTo>
                    <a:pt x="21962238" y="2459355"/>
                  </a:lnTo>
                  <a:cubicBezTo>
                    <a:pt x="21962238" y="2712085"/>
                    <a:pt x="21757387" y="2916936"/>
                    <a:pt x="21504656" y="2916936"/>
                  </a:cubicBezTo>
                  <a:lnTo>
                    <a:pt x="457581" y="2916936"/>
                  </a:lnTo>
                  <a:cubicBezTo>
                    <a:pt x="204851" y="2916936"/>
                    <a:pt x="0" y="2712085"/>
                    <a:pt x="0" y="2459355"/>
                  </a:cubicBezTo>
                  <a:close/>
                </a:path>
              </a:pathLst>
            </a:custGeom>
            <a:solidFill>
              <a:srgbClr val="7DE545">
                <a:alpha val="0"/>
              </a:srgbClr>
            </a:solidFill>
          </p:spPr>
        </p:sp>
      </p:grpSp>
      <p:grpSp>
        <p:nvGrpSpPr>
          <p:cNvPr name="Group 69" id="69"/>
          <p:cNvGrpSpPr/>
          <p:nvPr/>
        </p:nvGrpSpPr>
        <p:grpSpPr>
          <a:xfrm rot="-5400000">
            <a:off x="-79619" y="8344224"/>
            <a:ext cx="2187692" cy="198272"/>
            <a:chOff x="0" y="0"/>
            <a:chExt cx="2916923" cy="26436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916936" cy="264414"/>
            </a:xfrm>
            <a:custGeom>
              <a:avLst/>
              <a:gdLst/>
              <a:ahLst/>
              <a:cxnLst/>
              <a:rect r="r" b="b" t="t" l="l"/>
              <a:pathLst>
                <a:path h="264414" w="2916936">
                  <a:moveTo>
                    <a:pt x="132207" y="0"/>
                  </a:moveTo>
                  <a:lnTo>
                    <a:pt x="2784729" y="0"/>
                  </a:lnTo>
                  <a:cubicBezTo>
                    <a:pt x="2857754" y="0"/>
                    <a:pt x="2916936" y="59182"/>
                    <a:pt x="2916936" y="132207"/>
                  </a:cubicBezTo>
                  <a:lnTo>
                    <a:pt x="2916936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7DE545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15441" y="7766218"/>
            <a:ext cx="428949" cy="367675"/>
            <a:chOff x="0" y="0"/>
            <a:chExt cx="571932" cy="490233"/>
          </a:xfrm>
        </p:grpSpPr>
        <p:sp>
          <p:nvSpPr>
            <p:cNvPr name="Freeform 72" id="72" descr="image.png"/>
            <p:cNvSpPr/>
            <p:nvPr/>
          </p:nvSpPr>
          <p:spPr>
            <a:xfrm flipH="false" flipV="false" rot="0">
              <a:off x="0" y="0"/>
              <a:ext cx="571881" cy="490220"/>
            </a:xfrm>
            <a:custGeom>
              <a:avLst/>
              <a:gdLst/>
              <a:ahLst/>
              <a:cxnLst/>
              <a:rect r="r" b="b" t="t" l="l"/>
              <a:pathLst>
                <a:path h="490220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490220"/>
                  </a:lnTo>
                  <a:lnTo>
                    <a:pt x="0" y="490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9" b="-2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973170" y="7692685"/>
            <a:ext cx="15070426" cy="457562"/>
            <a:chOff x="0" y="0"/>
            <a:chExt cx="20093902" cy="61008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0093896" cy="610077"/>
            </a:xfrm>
            <a:custGeom>
              <a:avLst/>
              <a:gdLst/>
              <a:ahLst/>
              <a:cxnLst/>
              <a:rect r="r" b="b" t="t" l="l"/>
              <a:pathLst>
                <a:path h="610077" w="20093896">
                  <a:moveTo>
                    <a:pt x="0" y="0"/>
                  </a:moveTo>
                  <a:lnTo>
                    <a:pt x="20093896" y="0"/>
                  </a:lnTo>
                  <a:lnTo>
                    <a:pt x="20093896" y="610077"/>
                  </a:lnTo>
                  <a:lnTo>
                    <a:pt x="0" y="6100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1772" r="0" b="-59177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66675"/>
              <a:ext cx="20093902" cy="676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2"/>
                </a:lnSpc>
              </a:pPr>
              <a:r>
                <a:rPr lang="en-US" sz="2154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Clinical Priority: Reduce False Negatives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973170" y="8264633"/>
            <a:ext cx="15070426" cy="929411"/>
            <a:chOff x="0" y="0"/>
            <a:chExt cx="20093902" cy="123921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0093896" cy="1239216"/>
            </a:xfrm>
            <a:custGeom>
              <a:avLst/>
              <a:gdLst/>
              <a:ahLst/>
              <a:cxnLst/>
              <a:rect r="r" b="b" t="t" l="l"/>
              <a:pathLst>
                <a:path h="1239216" w="20093896">
                  <a:moveTo>
                    <a:pt x="0" y="0"/>
                  </a:moveTo>
                  <a:lnTo>
                    <a:pt x="20093896" y="0"/>
                  </a:lnTo>
                  <a:lnTo>
                    <a:pt x="20093896" y="1239216"/>
                  </a:lnTo>
                  <a:lnTo>
                    <a:pt x="0" y="1239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950" r="0" b="-26595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04775"/>
              <a:ext cx="20093902" cy="1343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2"/>
                </a:lnSpc>
              </a:pPr>
              <a:r>
                <a:rPr lang="en-US" sz="179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Aggressive thresholding catches 95.59% of tumors. False positives are acceptable as they're filtered by the segmentation stage. Patient safety takes precedence over absolute accuracy.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3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18188" y="3917694"/>
            <a:ext cx="2341112" cy="596732"/>
            <a:chOff x="0" y="0"/>
            <a:chExt cx="3121482" cy="7956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510" y="16510"/>
              <a:ext cx="3088513" cy="762635"/>
            </a:xfrm>
            <a:custGeom>
              <a:avLst/>
              <a:gdLst/>
              <a:ahLst/>
              <a:cxnLst/>
              <a:rect r="r" b="b" t="t" l="l"/>
              <a:pathLst>
                <a:path h="762635" w="3088513">
                  <a:moveTo>
                    <a:pt x="0" y="305054"/>
                  </a:moveTo>
                  <a:cubicBezTo>
                    <a:pt x="0" y="136525"/>
                    <a:pt x="140970" y="0"/>
                    <a:pt x="314960" y="0"/>
                  </a:cubicBezTo>
                  <a:lnTo>
                    <a:pt x="2773680" y="0"/>
                  </a:lnTo>
                  <a:cubicBezTo>
                    <a:pt x="2947543" y="0"/>
                    <a:pt x="3088513" y="136525"/>
                    <a:pt x="3088513" y="305054"/>
                  </a:cubicBezTo>
                  <a:lnTo>
                    <a:pt x="3088513" y="457581"/>
                  </a:lnTo>
                  <a:cubicBezTo>
                    <a:pt x="3088513" y="626110"/>
                    <a:pt x="2947543" y="762635"/>
                    <a:pt x="2773680" y="762635"/>
                  </a:cubicBezTo>
                  <a:lnTo>
                    <a:pt x="314960" y="762635"/>
                  </a:lnTo>
                  <a:cubicBezTo>
                    <a:pt x="140970" y="762635"/>
                    <a:pt x="0" y="625983"/>
                    <a:pt x="0" y="457581"/>
                  </a:cubicBezTo>
                  <a:close/>
                </a:path>
              </a:pathLst>
            </a:custGeom>
            <a:solidFill>
              <a:srgbClr val="7DE545">
                <a:alpha val="3922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21660" cy="795655"/>
            </a:xfrm>
            <a:custGeom>
              <a:avLst/>
              <a:gdLst/>
              <a:ahLst/>
              <a:cxnLst/>
              <a:rect r="r" b="b" t="t" l="l"/>
              <a:pathLst>
                <a:path h="795655" w="3121660">
                  <a:moveTo>
                    <a:pt x="0" y="321564"/>
                  </a:moveTo>
                  <a:cubicBezTo>
                    <a:pt x="0" y="143510"/>
                    <a:pt x="148844" y="0"/>
                    <a:pt x="331470" y="0"/>
                  </a:cubicBezTo>
                  <a:lnTo>
                    <a:pt x="2790190" y="0"/>
                  </a:lnTo>
                  <a:lnTo>
                    <a:pt x="2790190" y="16510"/>
                  </a:lnTo>
                  <a:lnTo>
                    <a:pt x="2790190" y="0"/>
                  </a:lnTo>
                  <a:cubicBezTo>
                    <a:pt x="2972689" y="0"/>
                    <a:pt x="3121660" y="143510"/>
                    <a:pt x="3121660" y="321564"/>
                  </a:cubicBezTo>
                  <a:lnTo>
                    <a:pt x="3105150" y="321564"/>
                  </a:lnTo>
                  <a:lnTo>
                    <a:pt x="3121660" y="321564"/>
                  </a:lnTo>
                  <a:lnTo>
                    <a:pt x="3121660" y="474091"/>
                  </a:lnTo>
                  <a:lnTo>
                    <a:pt x="3105150" y="474091"/>
                  </a:lnTo>
                  <a:lnTo>
                    <a:pt x="3121660" y="474091"/>
                  </a:lnTo>
                  <a:cubicBezTo>
                    <a:pt x="3121660" y="652145"/>
                    <a:pt x="2972816" y="795655"/>
                    <a:pt x="2790190" y="795655"/>
                  </a:cubicBezTo>
                  <a:lnTo>
                    <a:pt x="2790190" y="779145"/>
                  </a:lnTo>
                  <a:lnTo>
                    <a:pt x="2790190" y="795655"/>
                  </a:lnTo>
                  <a:lnTo>
                    <a:pt x="331470" y="795655"/>
                  </a:lnTo>
                  <a:lnTo>
                    <a:pt x="331470" y="779145"/>
                  </a:lnTo>
                  <a:lnTo>
                    <a:pt x="331470" y="795655"/>
                  </a:lnTo>
                  <a:cubicBezTo>
                    <a:pt x="148844" y="795655"/>
                    <a:pt x="0" y="652145"/>
                    <a:pt x="0" y="474091"/>
                  </a:cubicBezTo>
                  <a:lnTo>
                    <a:pt x="0" y="321564"/>
                  </a:lnTo>
                  <a:lnTo>
                    <a:pt x="16510" y="321564"/>
                  </a:lnTo>
                  <a:lnTo>
                    <a:pt x="0" y="321564"/>
                  </a:lnTo>
                  <a:moveTo>
                    <a:pt x="33020" y="321564"/>
                  </a:moveTo>
                  <a:lnTo>
                    <a:pt x="33020" y="474091"/>
                  </a:lnTo>
                  <a:lnTo>
                    <a:pt x="16510" y="474091"/>
                  </a:lnTo>
                  <a:lnTo>
                    <a:pt x="33020" y="474091"/>
                  </a:lnTo>
                  <a:cubicBezTo>
                    <a:pt x="33020" y="632968"/>
                    <a:pt x="166116" y="762635"/>
                    <a:pt x="331343" y="762635"/>
                  </a:cubicBezTo>
                  <a:lnTo>
                    <a:pt x="2790063" y="762635"/>
                  </a:lnTo>
                  <a:cubicBezTo>
                    <a:pt x="2955290" y="762635"/>
                    <a:pt x="3088386" y="632968"/>
                    <a:pt x="3088386" y="474091"/>
                  </a:cubicBezTo>
                  <a:lnTo>
                    <a:pt x="3088386" y="321564"/>
                  </a:lnTo>
                  <a:cubicBezTo>
                    <a:pt x="3088386" y="162687"/>
                    <a:pt x="2955290" y="33020"/>
                    <a:pt x="2790063" y="33020"/>
                  </a:cubicBezTo>
                  <a:lnTo>
                    <a:pt x="331470" y="33020"/>
                  </a:lnTo>
                  <a:lnTo>
                    <a:pt x="331470" y="16510"/>
                  </a:lnTo>
                  <a:lnTo>
                    <a:pt x="331470" y="33020"/>
                  </a:lnTo>
                  <a:cubicBezTo>
                    <a:pt x="166116" y="33020"/>
                    <a:pt x="33020" y="162687"/>
                    <a:pt x="33020" y="321564"/>
                  </a:cubicBezTo>
                  <a:close/>
                </a:path>
              </a:pathLst>
            </a:custGeom>
            <a:solidFill>
              <a:srgbClr val="7DE54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187955" y="4073076"/>
            <a:ext cx="1801587" cy="285969"/>
            <a:chOff x="0" y="0"/>
            <a:chExt cx="2402116" cy="3812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02115" cy="381296"/>
            </a:xfrm>
            <a:custGeom>
              <a:avLst/>
              <a:gdLst/>
              <a:ahLst/>
              <a:cxnLst/>
              <a:rect r="r" b="b" t="t" l="l"/>
              <a:pathLst>
                <a:path h="381296" w="2402115">
                  <a:moveTo>
                    <a:pt x="0" y="0"/>
                  </a:moveTo>
                  <a:lnTo>
                    <a:pt x="2402115" y="0"/>
                  </a:lnTo>
                  <a:lnTo>
                    <a:pt x="2402115" y="381296"/>
                  </a:lnTo>
                  <a:lnTo>
                    <a:pt x="0" y="381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53" r="0" b="-727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402116" cy="438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ROC-AUC: 0.9564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66010" y="1630051"/>
            <a:ext cx="7320734" cy="643442"/>
            <a:chOff x="0" y="0"/>
            <a:chExt cx="9760979" cy="8579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60982" cy="857920"/>
            </a:xfrm>
            <a:custGeom>
              <a:avLst/>
              <a:gdLst/>
              <a:ahLst/>
              <a:cxnLst/>
              <a:rect r="r" b="b" t="t" l="l"/>
              <a:pathLst>
                <a:path h="857920" w="9760982">
                  <a:moveTo>
                    <a:pt x="0" y="0"/>
                  </a:moveTo>
                  <a:lnTo>
                    <a:pt x="9760982" y="0"/>
                  </a:lnTo>
                  <a:lnTo>
                    <a:pt x="9760982" y="857920"/>
                  </a:lnTo>
                  <a:lnTo>
                    <a:pt x="0" y="857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690" r="0" b="-17169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9760979" cy="924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90"/>
                </a:lnSpc>
              </a:pPr>
              <a:r>
                <a:rPr lang="en-US" sz="323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Classification Results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66010" y="2487968"/>
            <a:ext cx="7320734" cy="457562"/>
            <a:chOff x="0" y="0"/>
            <a:chExt cx="9760979" cy="6100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60982" cy="610077"/>
            </a:xfrm>
            <a:custGeom>
              <a:avLst/>
              <a:gdLst/>
              <a:ahLst/>
              <a:cxnLst/>
              <a:rect r="r" b="b" t="t" l="l"/>
              <a:pathLst>
                <a:path h="610077" w="9760982">
                  <a:moveTo>
                    <a:pt x="0" y="0"/>
                  </a:moveTo>
                  <a:lnTo>
                    <a:pt x="9760982" y="0"/>
                  </a:lnTo>
                  <a:lnTo>
                    <a:pt x="9760982" y="610077"/>
                  </a:lnTo>
                  <a:lnTo>
                    <a:pt x="0" y="6100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2" r="0" b="-26175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760979" cy="676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2"/>
                </a:lnSpc>
              </a:pPr>
              <a:r>
                <a:rPr lang="en-US" sz="2154" b="true">
                  <a:solidFill>
                    <a:srgbClr val="7DE54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Model Choice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66010" y="3117113"/>
            <a:ext cx="1143867" cy="57198"/>
            <a:chOff x="0" y="0"/>
            <a:chExt cx="1525156" cy="762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5143" cy="76200"/>
            </a:xfrm>
            <a:custGeom>
              <a:avLst/>
              <a:gdLst/>
              <a:ahLst/>
              <a:cxnLst/>
              <a:rect r="r" b="b" t="t" l="l"/>
              <a:pathLst>
                <a:path h="76200" w="1525143">
                  <a:moveTo>
                    <a:pt x="0" y="0"/>
                  </a:moveTo>
                  <a:lnTo>
                    <a:pt x="1525143" y="0"/>
                  </a:lnTo>
                  <a:lnTo>
                    <a:pt x="152514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DE54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066010" y="3631863"/>
            <a:ext cx="800700" cy="800729"/>
            <a:chOff x="0" y="0"/>
            <a:chExt cx="1067600" cy="10676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7562" cy="1067689"/>
            </a:xfrm>
            <a:custGeom>
              <a:avLst/>
              <a:gdLst/>
              <a:ahLst/>
              <a:cxnLst/>
              <a:rect r="r" b="b" t="t" l="l"/>
              <a:pathLst>
                <a:path h="1067689" w="1067562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762635" y="0"/>
                  </a:lnTo>
                  <a:cubicBezTo>
                    <a:pt x="931037" y="0"/>
                    <a:pt x="1067562" y="136525"/>
                    <a:pt x="1067562" y="305054"/>
                  </a:cubicBezTo>
                  <a:lnTo>
                    <a:pt x="1067562" y="762635"/>
                  </a:lnTo>
                  <a:cubicBezTo>
                    <a:pt x="1067562" y="931037"/>
                    <a:pt x="931037" y="1067689"/>
                    <a:pt x="762508" y="1067689"/>
                  </a:cubicBezTo>
                  <a:lnTo>
                    <a:pt x="305054" y="1067689"/>
                  </a:lnTo>
                  <a:cubicBezTo>
                    <a:pt x="136525" y="1067689"/>
                    <a:pt x="0" y="931037"/>
                    <a:pt x="0" y="762635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51891" y="3848386"/>
            <a:ext cx="428949" cy="367675"/>
            <a:chOff x="0" y="0"/>
            <a:chExt cx="571932" cy="490233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571881" cy="490220"/>
            </a:xfrm>
            <a:custGeom>
              <a:avLst/>
              <a:gdLst/>
              <a:ahLst/>
              <a:cxnLst/>
              <a:rect r="r" b="b" t="t" l="l"/>
              <a:pathLst>
                <a:path h="490220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490220"/>
                  </a:lnTo>
                  <a:lnTo>
                    <a:pt x="0" y="490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9" b="-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152680" y="3631863"/>
            <a:ext cx="6234065" cy="343167"/>
            <a:chOff x="0" y="0"/>
            <a:chExt cx="8312086" cy="4575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12086" cy="457557"/>
            </a:xfrm>
            <a:custGeom>
              <a:avLst/>
              <a:gdLst/>
              <a:ahLst/>
              <a:cxnLst/>
              <a:rect r="r" b="b" t="t" l="l"/>
              <a:pathLst>
                <a:path h="457557" w="8312086">
                  <a:moveTo>
                    <a:pt x="0" y="0"/>
                  </a:moveTo>
                  <a:lnTo>
                    <a:pt x="8312086" y="0"/>
                  </a:lnTo>
                  <a:lnTo>
                    <a:pt x="8312086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3969" r="0" b="-30396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8312086" cy="524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435">
                  <a:solidFill>
                    <a:srgbClr val="9CA3AF"/>
                  </a:solidFill>
                  <a:latin typeface="Roboto"/>
                  <a:ea typeface="Roboto"/>
                  <a:cs typeface="Roboto"/>
                  <a:sym typeface="Roboto"/>
                </a:rPr>
                <a:t>Chosen Model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152680" y="4032228"/>
            <a:ext cx="6234065" cy="400364"/>
            <a:chOff x="0" y="0"/>
            <a:chExt cx="8312086" cy="5338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12086" cy="533815"/>
            </a:xfrm>
            <a:custGeom>
              <a:avLst/>
              <a:gdLst/>
              <a:ahLst/>
              <a:cxnLst/>
              <a:rect r="r" b="b" t="t" l="l"/>
              <a:pathLst>
                <a:path h="533815" w="8312086">
                  <a:moveTo>
                    <a:pt x="0" y="0"/>
                  </a:moveTo>
                  <a:lnTo>
                    <a:pt x="8312086" y="0"/>
                  </a:lnTo>
                  <a:lnTo>
                    <a:pt x="8312086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3403" r="0" b="-25340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8312086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ResNet50 Phase 2 @ 0.25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66010" y="4775759"/>
            <a:ext cx="800700" cy="800729"/>
            <a:chOff x="0" y="0"/>
            <a:chExt cx="1067600" cy="10676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7562" cy="1067689"/>
            </a:xfrm>
            <a:custGeom>
              <a:avLst/>
              <a:gdLst/>
              <a:ahLst/>
              <a:cxnLst/>
              <a:rect r="r" b="b" t="t" l="l"/>
              <a:pathLst>
                <a:path h="1067689" w="1067562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762635" y="0"/>
                  </a:lnTo>
                  <a:cubicBezTo>
                    <a:pt x="931037" y="0"/>
                    <a:pt x="1067562" y="136525"/>
                    <a:pt x="1067562" y="305054"/>
                  </a:cubicBezTo>
                  <a:lnTo>
                    <a:pt x="1067562" y="762635"/>
                  </a:lnTo>
                  <a:cubicBezTo>
                    <a:pt x="1067562" y="931037"/>
                    <a:pt x="931037" y="1067689"/>
                    <a:pt x="762508" y="1067689"/>
                  </a:cubicBezTo>
                  <a:lnTo>
                    <a:pt x="305054" y="1067689"/>
                  </a:lnTo>
                  <a:cubicBezTo>
                    <a:pt x="136525" y="1067689"/>
                    <a:pt x="0" y="931037"/>
                    <a:pt x="0" y="762635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251891" y="5141652"/>
            <a:ext cx="428949" cy="68942"/>
            <a:chOff x="0" y="0"/>
            <a:chExt cx="571932" cy="91923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571881" cy="91948"/>
            </a:xfrm>
            <a:custGeom>
              <a:avLst/>
              <a:gdLst/>
              <a:ahLst/>
              <a:cxnLst/>
              <a:rect r="r" b="b" t="t" l="l"/>
              <a:pathLst>
                <a:path h="91948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91948"/>
                  </a:lnTo>
                  <a:lnTo>
                    <a:pt x="0" y="91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9" b="27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152680" y="4718561"/>
            <a:ext cx="6234065" cy="343167"/>
            <a:chOff x="0" y="0"/>
            <a:chExt cx="8312086" cy="4575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312086" cy="457557"/>
            </a:xfrm>
            <a:custGeom>
              <a:avLst/>
              <a:gdLst/>
              <a:ahLst/>
              <a:cxnLst/>
              <a:rect r="r" b="b" t="t" l="l"/>
              <a:pathLst>
                <a:path h="457557" w="8312086">
                  <a:moveTo>
                    <a:pt x="0" y="0"/>
                  </a:moveTo>
                  <a:lnTo>
                    <a:pt x="8312086" y="0"/>
                  </a:lnTo>
                  <a:lnTo>
                    <a:pt x="8312086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3969" r="0" b="-30396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8312086" cy="524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435">
                  <a:solidFill>
                    <a:srgbClr val="9CA3AF"/>
                  </a:solidFill>
                  <a:latin typeface="Roboto"/>
                  <a:ea typeface="Roboto"/>
                  <a:cs typeface="Roboto"/>
                  <a:sym typeface="Roboto"/>
                </a:rPr>
                <a:t>System Accuracy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152680" y="5118925"/>
            <a:ext cx="6234065" cy="514750"/>
            <a:chOff x="0" y="0"/>
            <a:chExt cx="8312086" cy="68633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312086" cy="686336"/>
            </a:xfrm>
            <a:custGeom>
              <a:avLst/>
              <a:gdLst/>
              <a:ahLst/>
              <a:cxnLst/>
              <a:rect r="r" b="b" t="t" l="l"/>
              <a:pathLst>
                <a:path h="686336" w="8312086">
                  <a:moveTo>
                    <a:pt x="0" y="0"/>
                  </a:moveTo>
                  <a:lnTo>
                    <a:pt x="8312086" y="0"/>
                  </a:lnTo>
                  <a:lnTo>
                    <a:pt x="8312086" y="686336"/>
                  </a:lnTo>
                  <a:lnTo>
                    <a:pt x="0" y="686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979" r="0" b="-18597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8312086" cy="733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2"/>
                </a:lnSpc>
              </a:pPr>
              <a:r>
                <a:rPr lang="en-US" sz="2693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84.07%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66010" y="5976842"/>
            <a:ext cx="800700" cy="800729"/>
            <a:chOff x="0" y="0"/>
            <a:chExt cx="1067600" cy="10676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7562" cy="1067689"/>
            </a:xfrm>
            <a:custGeom>
              <a:avLst/>
              <a:gdLst/>
              <a:ahLst/>
              <a:cxnLst/>
              <a:rect r="r" b="b" t="t" l="l"/>
              <a:pathLst>
                <a:path h="1067689" w="1067562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762635" y="0"/>
                  </a:lnTo>
                  <a:cubicBezTo>
                    <a:pt x="931037" y="0"/>
                    <a:pt x="1067562" y="136525"/>
                    <a:pt x="1067562" y="305054"/>
                  </a:cubicBezTo>
                  <a:lnTo>
                    <a:pt x="1067562" y="762635"/>
                  </a:lnTo>
                  <a:cubicBezTo>
                    <a:pt x="1067562" y="931037"/>
                    <a:pt x="931037" y="1067689"/>
                    <a:pt x="762508" y="1067689"/>
                  </a:cubicBezTo>
                  <a:lnTo>
                    <a:pt x="305054" y="1067689"/>
                  </a:lnTo>
                  <a:cubicBezTo>
                    <a:pt x="136525" y="1067689"/>
                    <a:pt x="0" y="931037"/>
                    <a:pt x="0" y="762635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251891" y="6193365"/>
            <a:ext cx="428949" cy="367675"/>
            <a:chOff x="0" y="0"/>
            <a:chExt cx="571932" cy="490233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571881" cy="490220"/>
            </a:xfrm>
            <a:custGeom>
              <a:avLst/>
              <a:gdLst/>
              <a:ahLst/>
              <a:cxnLst/>
              <a:rect r="r" b="b" t="t" l="l"/>
              <a:pathLst>
                <a:path h="490220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490220"/>
                  </a:lnTo>
                  <a:lnTo>
                    <a:pt x="0" y="490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9" b="-2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152680" y="5919654"/>
            <a:ext cx="6234065" cy="343167"/>
            <a:chOff x="0" y="0"/>
            <a:chExt cx="8312086" cy="4575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312086" cy="457557"/>
            </a:xfrm>
            <a:custGeom>
              <a:avLst/>
              <a:gdLst/>
              <a:ahLst/>
              <a:cxnLst/>
              <a:rect r="r" b="b" t="t" l="l"/>
              <a:pathLst>
                <a:path h="457557" w="8312086">
                  <a:moveTo>
                    <a:pt x="0" y="0"/>
                  </a:moveTo>
                  <a:lnTo>
                    <a:pt x="8312086" y="0"/>
                  </a:lnTo>
                  <a:lnTo>
                    <a:pt x="8312086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3969" r="0" b="-30396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8312086" cy="524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435">
                  <a:solidFill>
                    <a:srgbClr val="9CA3AF"/>
                  </a:solidFill>
                  <a:latin typeface="Roboto"/>
                  <a:ea typeface="Roboto"/>
                  <a:cs typeface="Roboto"/>
                  <a:sym typeface="Roboto"/>
                </a:rPr>
                <a:t>Tumor Recall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152680" y="6320009"/>
            <a:ext cx="6234065" cy="514750"/>
            <a:chOff x="0" y="0"/>
            <a:chExt cx="8312086" cy="68633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312086" cy="686336"/>
            </a:xfrm>
            <a:custGeom>
              <a:avLst/>
              <a:gdLst/>
              <a:ahLst/>
              <a:cxnLst/>
              <a:rect r="r" b="b" t="t" l="l"/>
              <a:pathLst>
                <a:path h="686336" w="8312086">
                  <a:moveTo>
                    <a:pt x="0" y="0"/>
                  </a:moveTo>
                  <a:lnTo>
                    <a:pt x="8312086" y="0"/>
                  </a:lnTo>
                  <a:lnTo>
                    <a:pt x="8312086" y="686336"/>
                  </a:lnTo>
                  <a:lnTo>
                    <a:pt x="0" y="686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979" r="0" b="-18597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8312086" cy="733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2"/>
                </a:lnSpc>
              </a:pPr>
              <a:r>
                <a:rPr lang="en-US" sz="2693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95.59%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066010" y="7292321"/>
            <a:ext cx="7320734" cy="1372676"/>
            <a:chOff x="0" y="0"/>
            <a:chExt cx="9760979" cy="183023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60966" cy="1830324"/>
            </a:xfrm>
            <a:custGeom>
              <a:avLst/>
              <a:gdLst/>
              <a:ahLst/>
              <a:cxnLst/>
              <a:rect r="r" b="b" t="t" l="l"/>
              <a:pathLst>
                <a:path h="1830324" w="9760966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9303385" y="0"/>
                  </a:lnTo>
                  <a:cubicBezTo>
                    <a:pt x="9556115" y="0"/>
                    <a:pt x="9760966" y="204851"/>
                    <a:pt x="9760966" y="457581"/>
                  </a:cubicBezTo>
                  <a:lnTo>
                    <a:pt x="9760966" y="1372743"/>
                  </a:lnTo>
                  <a:cubicBezTo>
                    <a:pt x="9760966" y="1625473"/>
                    <a:pt x="9556115" y="1830324"/>
                    <a:pt x="9303385" y="1830324"/>
                  </a:cubicBezTo>
                  <a:lnTo>
                    <a:pt x="457581" y="1830324"/>
                  </a:lnTo>
                  <a:cubicBezTo>
                    <a:pt x="204851" y="1830197"/>
                    <a:pt x="0" y="1625346"/>
                    <a:pt x="0" y="1372616"/>
                  </a:cubicBezTo>
                  <a:close/>
                </a:path>
              </a:pathLst>
            </a:custGeom>
            <a:solidFill>
              <a:srgbClr val="FF6B6B">
                <a:alpha val="784"/>
              </a:srgbClr>
            </a:solidFill>
          </p:spPr>
        </p:sp>
      </p:grpSp>
      <p:grpSp>
        <p:nvGrpSpPr>
          <p:cNvPr name="Group 48" id="48"/>
          <p:cNvGrpSpPr/>
          <p:nvPr/>
        </p:nvGrpSpPr>
        <p:grpSpPr>
          <a:xfrm rot="-5400000">
            <a:off x="9478813" y="7879518"/>
            <a:ext cx="1372676" cy="198272"/>
            <a:chOff x="0" y="0"/>
            <a:chExt cx="1830235" cy="26436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30197" cy="264414"/>
            </a:xfrm>
            <a:custGeom>
              <a:avLst/>
              <a:gdLst/>
              <a:ahLst/>
              <a:cxnLst/>
              <a:rect r="r" b="b" t="t" l="l"/>
              <a:pathLst>
                <a:path h="264414" w="1830197">
                  <a:moveTo>
                    <a:pt x="132207" y="0"/>
                  </a:moveTo>
                  <a:lnTo>
                    <a:pt x="1697990" y="0"/>
                  </a:lnTo>
                  <a:cubicBezTo>
                    <a:pt x="1771015" y="0"/>
                    <a:pt x="1830197" y="59182"/>
                    <a:pt x="1830197" y="132207"/>
                  </a:cubicBezTo>
                  <a:lnTo>
                    <a:pt x="1830197" y="264414"/>
                  </a:lnTo>
                  <a:lnTo>
                    <a:pt x="0" y="264414"/>
                  </a:ln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409168" y="7661224"/>
            <a:ext cx="343157" cy="291694"/>
            <a:chOff x="0" y="0"/>
            <a:chExt cx="457543" cy="388925"/>
          </a:xfrm>
        </p:grpSpPr>
        <p:sp>
          <p:nvSpPr>
            <p:cNvPr name="Freeform 51" id="51" descr="image.png"/>
            <p:cNvSpPr/>
            <p:nvPr/>
          </p:nvSpPr>
          <p:spPr>
            <a:xfrm flipH="false" flipV="false" rot="0">
              <a:off x="0" y="0"/>
              <a:ext cx="457581" cy="388874"/>
            </a:xfrm>
            <a:custGeom>
              <a:avLst/>
              <a:gdLst/>
              <a:ahLst/>
              <a:cxnLst/>
              <a:rect r="r" b="b" t="t" l="l"/>
              <a:pathLst>
                <a:path h="38887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88874"/>
                  </a:lnTo>
                  <a:lnTo>
                    <a:pt x="0" y="38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6" b="-13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923908" y="7578300"/>
            <a:ext cx="5033010" cy="400364"/>
            <a:chOff x="0" y="0"/>
            <a:chExt cx="6710680" cy="53381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710675" cy="533815"/>
            </a:xfrm>
            <a:custGeom>
              <a:avLst/>
              <a:gdLst/>
              <a:ahLst/>
              <a:cxnLst/>
              <a:rect r="r" b="b" t="t" l="l"/>
              <a:pathLst>
                <a:path h="533815" w="6710675">
                  <a:moveTo>
                    <a:pt x="0" y="0"/>
                  </a:moveTo>
                  <a:lnTo>
                    <a:pt x="6710675" y="0"/>
                  </a:lnTo>
                  <a:lnTo>
                    <a:pt x="6710675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49" r="0" b="-19495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0"/>
              <a:ext cx="6710680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DenseNet121 Rejected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923908" y="8035852"/>
            <a:ext cx="5033010" cy="343167"/>
            <a:chOff x="0" y="0"/>
            <a:chExt cx="6710680" cy="4575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710675" cy="457557"/>
            </a:xfrm>
            <a:custGeom>
              <a:avLst/>
              <a:gdLst/>
              <a:ahLst/>
              <a:cxnLst/>
              <a:rect r="r" b="b" t="t" l="l"/>
              <a:pathLst>
                <a:path h="457557" w="6710675">
                  <a:moveTo>
                    <a:pt x="0" y="0"/>
                  </a:moveTo>
                  <a:lnTo>
                    <a:pt x="6710675" y="0"/>
                  </a:lnTo>
                  <a:lnTo>
                    <a:pt x="6710675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773" r="0" b="-23577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6710680" cy="524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43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Higher false negative risk despite better ROC-AUC</a:t>
              </a: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507742" y="226332"/>
            <a:ext cx="9082018" cy="3748698"/>
          </a:xfrm>
          <a:custGeom>
            <a:avLst/>
            <a:gdLst/>
            <a:ahLst/>
            <a:cxnLst/>
            <a:rect r="r" b="b" t="t" l="l"/>
            <a:pathLst>
              <a:path h="3748698" w="9082018">
                <a:moveTo>
                  <a:pt x="0" y="0"/>
                </a:moveTo>
                <a:lnTo>
                  <a:pt x="9082018" y="0"/>
                </a:lnTo>
                <a:lnTo>
                  <a:pt x="9082018" y="3748698"/>
                </a:lnTo>
                <a:lnTo>
                  <a:pt x="0" y="37486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435015" y="4073076"/>
            <a:ext cx="7227473" cy="6115554"/>
          </a:xfrm>
          <a:custGeom>
            <a:avLst/>
            <a:gdLst/>
            <a:ahLst/>
            <a:cxnLst/>
            <a:rect r="r" b="b" t="t" l="l"/>
            <a:pathLst>
              <a:path h="6115554" w="7227473">
                <a:moveTo>
                  <a:pt x="0" y="0"/>
                </a:moveTo>
                <a:lnTo>
                  <a:pt x="7227473" y="0"/>
                </a:lnTo>
                <a:lnTo>
                  <a:pt x="7227473" y="6115554"/>
                </a:lnTo>
                <a:lnTo>
                  <a:pt x="0" y="61155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3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5095" y="486156"/>
            <a:ext cx="7320734" cy="1715843"/>
            <a:chOff x="0" y="0"/>
            <a:chExt cx="9760979" cy="22877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60982" cy="2287787"/>
            </a:xfrm>
            <a:custGeom>
              <a:avLst/>
              <a:gdLst/>
              <a:ahLst/>
              <a:cxnLst/>
              <a:rect r="r" b="b" t="t" l="l"/>
              <a:pathLst>
                <a:path h="2287787" w="9760982">
                  <a:moveTo>
                    <a:pt x="0" y="0"/>
                  </a:moveTo>
                  <a:lnTo>
                    <a:pt x="9760982" y="0"/>
                  </a:lnTo>
                  <a:lnTo>
                    <a:pt x="9760982" y="2287787"/>
                  </a:lnTo>
                  <a:lnTo>
                    <a:pt x="0" y="22877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133" r="0" b="-331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9760979" cy="2373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54"/>
                </a:lnSpc>
              </a:pPr>
              <a:r>
                <a:rPr lang="en-US" sz="4308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Stage 2: Segmentation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5095" y="2430770"/>
            <a:ext cx="7320734" cy="514750"/>
            <a:chOff x="0" y="0"/>
            <a:chExt cx="9760979" cy="686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60982" cy="686336"/>
            </a:xfrm>
            <a:custGeom>
              <a:avLst/>
              <a:gdLst/>
              <a:ahLst/>
              <a:cxnLst/>
              <a:rect r="r" b="b" t="t" l="l"/>
              <a:pathLst>
                <a:path h="686336" w="9760982">
                  <a:moveTo>
                    <a:pt x="0" y="0"/>
                  </a:moveTo>
                  <a:lnTo>
                    <a:pt x="9760982" y="0"/>
                  </a:lnTo>
                  <a:lnTo>
                    <a:pt x="9760982" y="686336"/>
                  </a:lnTo>
                  <a:lnTo>
                    <a:pt x="0" y="686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113" r="0" b="-2271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760979" cy="733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2"/>
                </a:lnSpc>
              </a:pPr>
              <a:r>
                <a:rPr lang="en-US" sz="2693" b="true">
                  <a:solidFill>
                    <a:srgbClr val="7DE54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ResUNet Architecture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5095" y="3117113"/>
            <a:ext cx="1143867" cy="57198"/>
            <a:chOff x="0" y="0"/>
            <a:chExt cx="1525156" cy="76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5143" cy="76200"/>
            </a:xfrm>
            <a:custGeom>
              <a:avLst/>
              <a:gdLst/>
              <a:ahLst/>
              <a:cxnLst/>
              <a:rect r="r" b="b" t="t" l="l"/>
              <a:pathLst>
                <a:path h="76200" w="1525143">
                  <a:moveTo>
                    <a:pt x="0" y="0"/>
                  </a:moveTo>
                  <a:lnTo>
                    <a:pt x="1525143" y="0"/>
                  </a:lnTo>
                  <a:lnTo>
                    <a:pt x="152514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DE54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5095" y="3631863"/>
            <a:ext cx="686314" cy="686333"/>
            <a:chOff x="0" y="0"/>
            <a:chExt cx="915086" cy="9151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610108" y="0"/>
                  </a:lnTo>
                  <a:cubicBezTo>
                    <a:pt x="778510" y="0"/>
                    <a:pt x="915035" y="136525"/>
                    <a:pt x="915035" y="305054"/>
                  </a:cubicBezTo>
                  <a:lnTo>
                    <a:pt x="915035" y="610108"/>
                  </a:lnTo>
                  <a:cubicBezTo>
                    <a:pt x="915035" y="778510"/>
                    <a:pt x="778510" y="915162"/>
                    <a:pt x="609981" y="915162"/>
                  </a:cubicBezTo>
                  <a:lnTo>
                    <a:pt x="305054" y="915162"/>
                  </a:lnTo>
                  <a:cubicBezTo>
                    <a:pt x="136525" y="915162"/>
                    <a:pt x="0" y="778510"/>
                    <a:pt x="0" y="610108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6669" y="3842052"/>
            <a:ext cx="343157" cy="265957"/>
            <a:chOff x="0" y="0"/>
            <a:chExt cx="457543" cy="354609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57581" cy="354584"/>
            </a:xfrm>
            <a:custGeom>
              <a:avLst/>
              <a:gdLst/>
              <a:ahLst/>
              <a:cxnLst/>
              <a:rect r="r" b="b" t="t" l="l"/>
              <a:pathLst>
                <a:path h="35458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54584"/>
                  </a:lnTo>
                  <a:lnTo>
                    <a:pt x="0" y="354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6" b="-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30181" y="3631863"/>
            <a:ext cx="6405648" cy="400364"/>
            <a:chOff x="0" y="0"/>
            <a:chExt cx="8540864" cy="5338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8540864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Encoder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30181" y="4089416"/>
            <a:ext cx="6405648" cy="400364"/>
            <a:chOff x="0" y="0"/>
            <a:chExt cx="8540864" cy="5338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8540864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Pretrained ResNet50 feature extractor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30181" y="4546978"/>
            <a:ext cx="6405648" cy="343167"/>
            <a:chOff x="0" y="0"/>
            <a:chExt cx="8540864" cy="4575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40859" cy="457557"/>
            </a:xfrm>
            <a:custGeom>
              <a:avLst/>
              <a:gdLst/>
              <a:ahLst/>
              <a:cxnLst/>
              <a:rect r="r" b="b" t="t" l="l"/>
              <a:pathLst>
                <a:path h="457557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3712" r="0" b="-31371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8540864" cy="524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435">
                  <a:solidFill>
                    <a:srgbClr val="9CA3AF"/>
                  </a:solidFill>
                  <a:latin typeface="Roboto"/>
                  <a:ea typeface="Roboto"/>
                  <a:cs typeface="Roboto"/>
                  <a:sym typeface="Roboto"/>
                </a:rPr>
                <a:t>Captures robust low-level &amp; high-level medical textures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5095" y="5233311"/>
            <a:ext cx="686314" cy="686333"/>
            <a:chOff x="0" y="0"/>
            <a:chExt cx="915086" cy="9151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610108" y="0"/>
                  </a:lnTo>
                  <a:cubicBezTo>
                    <a:pt x="778510" y="0"/>
                    <a:pt x="915035" y="136525"/>
                    <a:pt x="915035" y="305054"/>
                  </a:cubicBezTo>
                  <a:lnTo>
                    <a:pt x="915035" y="610108"/>
                  </a:lnTo>
                  <a:cubicBezTo>
                    <a:pt x="915035" y="778510"/>
                    <a:pt x="778510" y="915162"/>
                    <a:pt x="609981" y="915162"/>
                  </a:cubicBezTo>
                  <a:lnTo>
                    <a:pt x="305054" y="915162"/>
                  </a:lnTo>
                  <a:cubicBezTo>
                    <a:pt x="136525" y="915162"/>
                    <a:pt x="0" y="778510"/>
                    <a:pt x="0" y="610108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86669" y="5443499"/>
            <a:ext cx="343157" cy="265957"/>
            <a:chOff x="0" y="0"/>
            <a:chExt cx="457543" cy="354609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457581" cy="354584"/>
            </a:xfrm>
            <a:custGeom>
              <a:avLst/>
              <a:gdLst/>
              <a:ahLst/>
              <a:cxnLst/>
              <a:rect r="r" b="b" t="t" l="l"/>
              <a:pathLst>
                <a:path h="35458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54584"/>
                  </a:lnTo>
                  <a:lnTo>
                    <a:pt x="0" y="354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6" b="-7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830181" y="5233311"/>
            <a:ext cx="6405648" cy="400364"/>
            <a:chOff x="0" y="0"/>
            <a:chExt cx="8540864" cy="5338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8540864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Decoder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830181" y="5690873"/>
            <a:ext cx="6405648" cy="400364"/>
            <a:chOff x="0" y="0"/>
            <a:chExt cx="8540864" cy="5338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0"/>
              <a:ext cx="8540864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U-Net with skip connections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830181" y="6148426"/>
            <a:ext cx="6405648" cy="343167"/>
            <a:chOff x="0" y="0"/>
            <a:chExt cx="8540864" cy="4575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40859" cy="457557"/>
            </a:xfrm>
            <a:custGeom>
              <a:avLst/>
              <a:gdLst/>
              <a:ahLst/>
              <a:cxnLst/>
              <a:rect r="r" b="b" t="t" l="l"/>
              <a:pathLst>
                <a:path h="457557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3712" r="0" b="-31371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8540864" cy="524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435">
                  <a:solidFill>
                    <a:srgbClr val="9CA3AF"/>
                  </a:solidFill>
                  <a:latin typeface="Roboto"/>
                  <a:ea typeface="Roboto"/>
                  <a:cs typeface="Roboto"/>
                  <a:sym typeface="Roboto"/>
                </a:rPr>
                <a:t>Recovers spatial resolution, preserves boundaries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5095" y="6834759"/>
            <a:ext cx="686314" cy="686333"/>
            <a:chOff x="0" y="0"/>
            <a:chExt cx="915086" cy="91511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610108" y="0"/>
                  </a:lnTo>
                  <a:cubicBezTo>
                    <a:pt x="778510" y="0"/>
                    <a:pt x="915035" y="136525"/>
                    <a:pt x="915035" y="305054"/>
                  </a:cubicBezTo>
                  <a:lnTo>
                    <a:pt x="915035" y="610108"/>
                  </a:lnTo>
                  <a:cubicBezTo>
                    <a:pt x="915035" y="778510"/>
                    <a:pt x="778510" y="915162"/>
                    <a:pt x="609981" y="915162"/>
                  </a:cubicBezTo>
                  <a:lnTo>
                    <a:pt x="305054" y="915162"/>
                  </a:lnTo>
                  <a:cubicBezTo>
                    <a:pt x="136525" y="915162"/>
                    <a:pt x="0" y="778510"/>
                    <a:pt x="0" y="610108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86669" y="7036375"/>
            <a:ext cx="343157" cy="283112"/>
            <a:chOff x="0" y="0"/>
            <a:chExt cx="457543" cy="377482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457581" cy="377444"/>
            </a:xfrm>
            <a:custGeom>
              <a:avLst/>
              <a:gdLst/>
              <a:ahLst/>
              <a:cxnLst/>
              <a:rect r="r" b="b" t="t" l="l"/>
              <a:pathLst>
                <a:path h="37744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77444"/>
                  </a:lnTo>
                  <a:lnTo>
                    <a:pt x="0" y="377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6" b="-1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830181" y="6834759"/>
            <a:ext cx="6405648" cy="400364"/>
            <a:chOff x="0" y="0"/>
            <a:chExt cx="8540864" cy="5338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8540864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Output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830181" y="7292321"/>
            <a:ext cx="6405648" cy="400364"/>
            <a:chOff x="0" y="0"/>
            <a:chExt cx="8540864" cy="53381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40859" cy="533815"/>
            </a:xfrm>
            <a:custGeom>
              <a:avLst/>
              <a:gdLst/>
              <a:ahLst/>
              <a:cxnLst/>
              <a:rect r="r" b="b" t="t" l="l"/>
              <a:pathLst>
                <a:path h="533815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53" r="0" b="-26175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0"/>
              <a:ext cx="8540864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256 × 256 × 1 binary mask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830181" y="7749883"/>
            <a:ext cx="6405648" cy="343167"/>
            <a:chOff x="0" y="0"/>
            <a:chExt cx="8540864" cy="4575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540859" cy="457557"/>
            </a:xfrm>
            <a:custGeom>
              <a:avLst/>
              <a:gdLst/>
              <a:ahLst/>
              <a:cxnLst/>
              <a:rect r="r" b="b" t="t" l="l"/>
              <a:pathLst>
                <a:path h="457557" w="8540859">
                  <a:moveTo>
                    <a:pt x="0" y="0"/>
                  </a:moveTo>
                  <a:lnTo>
                    <a:pt x="8540859" y="0"/>
                  </a:lnTo>
                  <a:lnTo>
                    <a:pt x="8540859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3712" r="0" b="-31371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8540864" cy="524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435">
                  <a:solidFill>
                    <a:srgbClr val="9CA3AF"/>
                  </a:solidFill>
                  <a:latin typeface="Roboto"/>
                  <a:ea typeface="Roboto"/>
                  <a:cs typeface="Roboto"/>
                  <a:sym typeface="Roboto"/>
                </a:rPr>
                <a:t>Pixel-level tumor localization with Sigmoid activation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5095" y="9278150"/>
            <a:ext cx="285969" cy="260737"/>
            <a:chOff x="0" y="0"/>
            <a:chExt cx="381292" cy="347650"/>
          </a:xfrm>
        </p:grpSpPr>
        <p:sp>
          <p:nvSpPr>
            <p:cNvPr name="Freeform 50" id="50" descr="image.png"/>
            <p:cNvSpPr/>
            <p:nvPr/>
          </p:nvSpPr>
          <p:spPr>
            <a:xfrm flipH="false" flipV="false" rot="0">
              <a:off x="0" y="0"/>
              <a:ext cx="381254" cy="347599"/>
            </a:xfrm>
            <a:custGeom>
              <a:avLst/>
              <a:gdLst/>
              <a:ahLst/>
              <a:cxnLst/>
              <a:rect r="r" b="b" t="t" l="l"/>
              <a:pathLst>
                <a:path h="347599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47599"/>
                  </a:lnTo>
                  <a:lnTo>
                    <a:pt x="0" y="347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8" b="-14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72638" y="9008164"/>
            <a:ext cx="6863191" cy="800729"/>
            <a:chOff x="0" y="0"/>
            <a:chExt cx="9150922" cy="106763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50919" cy="1067632"/>
            </a:xfrm>
            <a:custGeom>
              <a:avLst/>
              <a:gdLst/>
              <a:ahLst/>
              <a:cxnLst/>
              <a:rect r="r" b="b" t="t" l="l"/>
              <a:pathLst>
                <a:path h="1067632" w="9150919">
                  <a:moveTo>
                    <a:pt x="0" y="0"/>
                  </a:moveTo>
                  <a:lnTo>
                    <a:pt x="9150919" y="0"/>
                  </a:lnTo>
                  <a:lnTo>
                    <a:pt x="9150919" y="1067632"/>
                  </a:lnTo>
                  <a:lnTo>
                    <a:pt x="0" y="10676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0" r="0" b="-11701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0"/>
              <a:ext cx="9150922" cy="1162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Skip connections ensure precise boundary preservation for pixel-level accuracy</a:t>
              </a: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6798860" y="2330300"/>
            <a:ext cx="11301259" cy="5806022"/>
          </a:xfrm>
          <a:custGeom>
            <a:avLst/>
            <a:gdLst/>
            <a:ahLst/>
            <a:cxnLst/>
            <a:rect r="r" b="b" t="t" l="l"/>
            <a:pathLst>
              <a:path h="5806022" w="11301259">
                <a:moveTo>
                  <a:pt x="0" y="0"/>
                </a:moveTo>
                <a:lnTo>
                  <a:pt x="11301259" y="0"/>
                </a:lnTo>
                <a:lnTo>
                  <a:pt x="11301259" y="5806022"/>
                </a:lnTo>
                <a:lnTo>
                  <a:pt x="0" y="58060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3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5095" y="314573"/>
            <a:ext cx="6791696" cy="571948"/>
            <a:chOff x="0" y="0"/>
            <a:chExt cx="9055595" cy="762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55597" cy="762594"/>
            </a:xfrm>
            <a:custGeom>
              <a:avLst/>
              <a:gdLst/>
              <a:ahLst/>
              <a:cxnLst/>
              <a:rect r="r" b="b" t="t" l="l"/>
              <a:pathLst>
                <a:path h="762594" w="9055597">
                  <a:moveTo>
                    <a:pt x="0" y="0"/>
                  </a:moveTo>
                  <a:lnTo>
                    <a:pt x="9055597" y="0"/>
                  </a:lnTo>
                  <a:lnTo>
                    <a:pt x="9055597" y="762594"/>
                  </a:lnTo>
                  <a:lnTo>
                    <a:pt x="0" y="7625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379" r="0" b="-18137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055595" cy="791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03"/>
                </a:lnSpc>
              </a:pPr>
              <a:r>
                <a:rPr lang="en-US" sz="323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Segmentation Evolution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49949" y="571948"/>
            <a:ext cx="915095" cy="57198"/>
            <a:chOff x="0" y="0"/>
            <a:chExt cx="1220127" cy="762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089" cy="76200"/>
            </a:xfrm>
            <a:custGeom>
              <a:avLst/>
              <a:gdLst/>
              <a:ahLst/>
              <a:cxnLst/>
              <a:rect r="r" b="b" t="t" l="l"/>
              <a:pathLst>
                <a:path h="76200" w="1220089">
                  <a:moveTo>
                    <a:pt x="0" y="0"/>
                  </a:moveTo>
                  <a:lnTo>
                    <a:pt x="1220089" y="0"/>
                  </a:lnTo>
                  <a:lnTo>
                    <a:pt x="122008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DE54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359219" y="2487968"/>
            <a:ext cx="1544222" cy="1072401"/>
            <a:chOff x="0" y="0"/>
            <a:chExt cx="2058962" cy="1429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8956" cy="1429867"/>
            </a:xfrm>
            <a:custGeom>
              <a:avLst/>
              <a:gdLst/>
              <a:ahLst/>
              <a:cxnLst/>
              <a:rect r="r" b="b" t="t" l="l"/>
              <a:pathLst>
                <a:path h="1429867" w="2058956">
                  <a:moveTo>
                    <a:pt x="0" y="0"/>
                  </a:moveTo>
                  <a:lnTo>
                    <a:pt x="2058956" y="0"/>
                  </a:lnTo>
                  <a:lnTo>
                    <a:pt x="2058956" y="1429867"/>
                  </a:lnTo>
                  <a:lnTo>
                    <a:pt x="0" y="14298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101" t="0" r="-3910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058962" cy="14012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54"/>
                </a:lnSpc>
              </a:pPr>
              <a:r>
                <a:rPr lang="en-US" sz="5386" b="true">
                  <a:solidFill>
                    <a:srgbClr val="7DE54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35%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5095" y="3631863"/>
            <a:ext cx="4418181" cy="457562"/>
            <a:chOff x="0" y="0"/>
            <a:chExt cx="5890908" cy="6100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90904" cy="610077"/>
            </a:xfrm>
            <a:custGeom>
              <a:avLst/>
              <a:gdLst/>
              <a:ahLst/>
              <a:cxnLst/>
              <a:rect r="r" b="b" t="t" l="l"/>
              <a:pathLst>
                <a:path h="610077" w="5890904">
                  <a:moveTo>
                    <a:pt x="0" y="0"/>
                  </a:moveTo>
                  <a:lnTo>
                    <a:pt x="5890904" y="0"/>
                  </a:lnTo>
                  <a:lnTo>
                    <a:pt x="5890904" y="610077"/>
                  </a:lnTo>
                  <a:lnTo>
                    <a:pt x="0" y="6100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147" r="0" b="-13814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5890908" cy="676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2"/>
                </a:lnSpc>
              </a:pPr>
              <a:r>
                <a:rPr lang="en-US" sz="2154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Baseline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5095" y="4203811"/>
            <a:ext cx="4418181" cy="400364"/>
            <a:chOff x="0" y="0"/>
            <a:chExt cx="5890908" cy="5338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90904" cy="533815"/>
            </a:xfrm>
            <a:custGeom>
              <a:avLst/>
              <a:gdLst/>
              <a:ahLst/>
              <a:cxnLst/>
              <a:rect r="r" b="b" t="t" l="l"/>
              <a:pathLst>
                <a:path h="533815" w="5890904">
                  <a:moveTo>
                    <a:pt x="0" y="0"/>
                  </a:moveTo>
                  <a:lnTo>
                    <a:pt x="5890904" y="0"/>
                  </a:lnTo>
                  <a:lnTo>
                    <a:pt x="5890904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026" r="0" b="-16502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5890908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BCE + Dice Loss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5441" y="4832947"/>
            <a:ext cx="3617471" cy="629145"/>
            <a:chOff x="0" y="0"/>
            <a:chExt cx="4823295" cy="8388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23333" cy="838835"/>
            </a:xfrm>
            <a:custGeom>
              <a:avLst/>
              <a:gdLst/>
              <a:ahLst/>
              <a:cxnLst/>
              <a:rect r="r" b="b" t="t" l="l"/>
              <a:pathLst>
                <a:path h="838835" w="4823333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4518279" y="0"/>
                  </a:lnTo>
                  <a:cubicBezTo>
                    <a:pt x="4686681" y="0"/>
                    <a:pt x="4823333" y="136525"/>
                    <a:pt x="4823333" y="305054"/>
                  </a:cubicBezTo>
                  <a:lnTo>
                    <a:pt x="4823333" y="533781"/>
                  </a:lnTo>
                  <a:cubicBezTo>
                    <a:pt x="4823333" y="702183"/>
                    <a:pt x="4686808" y="838835"/>
                    <a:pt x="4518279" y="838835"/>
                  </a:cubicBezTo>
                  <a:lnTo>
                    <a:pt x="305054" y="838835"/>
                  </a:lnTo>
                  <a:cubicBezTo>
                    <a:pt x="136525" y="838835"/>
                    <a:pt x="0" y="702310"/>
                    <a:pt x="0" y="533781"/>
                  </a:cubicBezTo>
                  <a:close/>
                </a:path>
              </a:pathLst>
            </a:custGeom>
            <a:solidFill>
              <a:srgbClr val="FF6B6B">
                <a:alpha val="1961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44222" y="5025561"/>
            <a:ext cx="285969" cy="243916"/>
            <a:chOff x="0" y="0"/>
            <a:chExt cx="381292" cy="325222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81254" cy="325247"/>
            </a:xfrm>
            <a:custGeom>
              <a:avLst/>
              <a:gdLst/>
              <a:ahLst/>
              <a:cxnLst/>
              <a:rect r="r" b="b" t="t" l="l"/>
              <a:pathLst>
                <a:path h="325247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25247"/>
                  </a:lnTo>
                  <a:lnTo>
                    <a:pt x="0" y="325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8" b="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944567" y="4975936"/>
            <a:ext cx="2759573" cy="343167"/>
            <a:chOff x="0" y="0"/>
            <a:chExt cx="3679431" cy="4575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79432" cy="457557"/>
            </a:xfrm>
            <a:custGeom>
              <a:avLst/>
              <a:gdLst/>
              <a:ahLst/>
              <a:cxnLst/>
              <a:rect r="r" b="b" t="t" l="l"/>
              <a:pathLst>
                <a:path h="457557" w="3679432">
                  <a:moveTo>
                    <a:pt x="0" y="0"/>
                  </a:moveTo>
                  <a:lnTo>
                    <a:pt x="3679432" y="0"/>
                  </a:lnTo>
                  <a:lnTo>
                    <a:pt x="367943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688" r="0" b="-10668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3679431" cy="524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43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Hallucinated false positives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790819" y="3750012"/>
            <a:ext cx="686314" cy="478631"/>
            <a:chOff x="0" y="0"/>
            <a:chExt cx="915086" cy="638175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915035" cy="638175"/>
            </a:xfrm>
            <a:custGeom>
              <a:avLst/>
              <a:gdLst/>
              <a:ahLst/>
              <a:cxnLst/>
              <a:rect r="r" b="b" t="t" l="l"/>
              <a:pathLst>
                <a:path h="638175" w="915035">
                  <a:moveTo>
                    <a:pt x="0" y="0"/>
                  </a:moveTo>
                  <a:lnTo>
                    <a:pt x="915035" y="0"/>
                  </a:lnTo>
                  <a:lnTo>
                    <a:pt x="915035" y="638175"/>
                  </a:lnTo>
                  <a:lnTo>
                    <a:pt x="0" y="638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7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864069" y="2487968"/>
            <a:ext cx="2573693" cy="1072401"/>
            <a:chOff x="0" y="0"/>
            <a:chExt cx="3431591" cy="14298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31595" cy="1429867"/>
            </a:xfrm>
            <a:custGeom>
              <a:avLst/>
              <a:gdLst/>
              <a:ahLst/>
              <a:cxnLst/>
              <a:rect r="r" b="b" t="t" l="l"/>
              <a:pathLst>
                <a:path h="1429867" w="3431595">
                  <a:moveTo>
                    <a:pt x="0" y="0"/>
                  </a:moveTo>
                  <a:lnTo>
                    <a:pt x="3431595" y="0"/>
                  </a:lnTo>
                  <a:lnTo>
                    <a:pt x="3431595" y="1429867"/>
                  </a:lnTo>
                  <a:lnTo>
                    <a:pt x="0" y="14298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61" t="0" r="-3461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3431591" cy="14012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54"/>
                </a:lnSpc>
              </a:pPr>
              <a:r>
                <a:rPr lang="en-US" sz="5386" b="true">
                  <a:solidFill>
                    <a:srgbClr val="7DE54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47.3%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934686" y="3631863"/>
            <a:ext cx="4418181" cy="457562"/>
            <a:chOff x="0" y="0"/>
            <a:chExt cx="5890908" cy="6100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90904" cy="610077"/>
            </a:xfrm>
            <a:custGeom>
              <a:avLst/>
              <a:gdLst/>
              <a:ahLst/>
              <a:cxnLst/>
              <a:rect r="r" b="b" t="t" l="l"/>
              <a:pathLst>
                <a:path h="610077" w="5890904">
                  <a:moveTo>
                    <a:pt x="0" y="0"/>
                  </a:moveTo>
                  <a:lnTo>
                    <a:pt x="5890904" y="0"/>
                  </a:lnTo>
                  <a:lnTo>
                    <a:pt x="5890904" y="610077"/>
                  </a:lnTo>
                  <a:lnTo>
                    <a:pt x="0" y="6100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147" r="0" b="-13814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5890908" cy="676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2"/>
                </a:lnSpc>
              </a:pPr>
              <a:r>
                <a:rPr lang="en-US" sz="2154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Phase B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34686" y="4203811"/>
            <a:ext cx="4418181" cy="400364"/>
            <a:chOff x="0" y="0"/>
            <a:chExt cx="5890908" cy="53381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890904" cy="533815"/>
            </a:xfrm>
            <a:custGeom>
              <a:avLst/>
              <a:gdLst/>
              <a:ahLst/>
              <a:cxnLst/>
              <a:rect r="r" b="b" t="t" l="l"/>
              <a:pathLst>
                <a:path h="533815" w="5890904">
                  <a:moveTo>
                    <a:pt x="0" y="0"/>
                  </a:moveTo>
                  <a:lnTo>
                    <a:pt x="5890904" y="0"/>
                  </a:lnTo>
                  <a:lnTo>
                    <a:pt x="5890904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026" r="0" b="-16502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0"/>
              <a:ext cx="5890908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Data Augmentation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463714" y="4832947"/>
            <a:ext cx="3388700" cy="629145"/>
            <a:chOff x="0" y="0"/>
            <a:chExt cx="4518266" cy="8388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518279" cy="838835"/>
            </a:xfrm>
            <a:custGeom>
              <a:avLst/>
              <a:gdLst/>
              <a:ahLst/>
              <a:cxnLst/>
              <a:rect r="r" b="b" t="t" l="l"/>
              <a:pathLst>
                <a:path h="838835" w="4518279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4213225" y="0"/>
                  </a:lnTo>
                  <a:cubicBezTo>
                    <a:pt x="4381627" y="0"/>
                    <a:pt x="4518279" y="136525"/>
                    <a:pt x="4518279" y="305054"/>
                  </a:cubicBezTo>
                  <a:lnTo>
                    <a:pt x="4518279" y="533781"/>
                  </a:lnTo>
                  <a:cubicBezTo>
                    <a:pt x="4518279" y="702183"/>
                    <a:pt x="4381754" y="838835"/>
                    <a:pt x="4213225" y="838835"/>
                  </a:cubicBezTo>
                  <a:lnTo>
                    <a:pt x="305054" y="838835"/>
                  </a:lnTo>
                  <a:cubicBezTo>
                    <a:pt x="136525" y="838835"/>
                    <a:pt x="0" y="702310"/>
                    <a:pt x="0" y="533781"/>
                  </a:cubicBezTo>
                  <a:close/>
                </a:path>
              </a:pathLst>
            </a:custGeom>
            <a:solidFill>
              <a:srgbClr val="FFC107">
                <a:alpha val="1961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692495" y="5067614"/>
            <a:ext cx="285969" cy="159810"/>
            <a:chOff x="0" y="0"/>
            <a:chExt cx="381292" cy="213081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381254" cy="213106"/>
            </a:xfrm>
            <a:custGeom>
              <a:avLst/>
              <a:gdLst/>
              <a:ahLst/>
              <a:cxnLst/>
              <a:rect r="r" b="b" t="t" l="l"/>
              <a:pathLst>
                <a:path h="213106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213106"/>
                  </a:lnTo>
                  <a:lnTo>
                    <a:pt x="0" y="213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9" b="11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092850" y="4975936"/>
            <a:ext cx="2530802" cy="343167"/>
            <a:chOff x="0" y="0"/>
            <a:chExt cx="3374403" cy="4575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74400" cy="457557"/>
            </a:xfrm>
            <a:custGeom>
              <a:avLst/>
              <a:gdLst/>
              <a:ahLst/>
              <a:cxnLst/>
              <a:rect r="r" b="b" t="t" l="l"/>
              <a:pathLst>
                <a:path h="457557" w="3374400">
                  <a:moveTo>
                    <a:pt x="0" y="0"/>
                  </a:moveTo>
                  <a:lnTo>
                    <a:pt x="3374400" y="0"/>
                  </a:lnTo>
                  <a:lnTo>
                    <a:pt x="337440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698" r="0" b="-9369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3374403" cy="524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43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Improved but suboptimal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824706" y="3750012"/>
            <a:ext cx="686314" cy="478631"/>
            <a:chOff x="0" y="0"/>
            <a:chExt cx="915086" cy="638175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915035" cy="638175"/>
            </a:xfrm>
            <a:custGeom>
              <a:avLst/>
              <a:gdLst/>
              <a:ahLst/>
              <a:cxnLst/>
              <a:rect r="r" b="b" t="t" l="l"/>
              <a:pathLst>
                <a:path h="638175" w="915035">
                  <a:moveTo>
                    <a:pt x="0" y="0"/>
                  </a:moveTo>
                  <a:lnTo>
                    <a:pt x="915035" y="0"/>
                  </a:lnTo>
                  <a:lnTo>
                    <a:pt x="915035" y="638175"/>
                  </a:lnTo>
                  <a:lnTo>
                    <a:pt x="0" y="638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7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883659" y="2487968"/>
            <a:ext cx="2573693" cy="1072401"/>
            <a:chOff x="0" y="0"/>
            <a:chExt cx="3431591" cy="142986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31595" cy="1429867"/>
            </a:xfrm>
            <a:custGeom>
              <a:avLst/>
              <a:gdLst/>
              <a:ahLst/>
              <a:cxnLst/>
              <a:rect r="r" b="b" t="t" l="l"/>
              <a:pathLst>
                <a:path h="1429867" w="3431595">
                  <a:moveTo>
                    <a:pt x="0" y="0"/>
                  </a:moveTo>
                  <a:lnTo>
                    <a:pt x="3431595" y="0"/>
                  </a:lnTo>
                  <a:lnTo>
                    <a:pt x="3431595" y="1429867"/>
                  </a:lnTo>
                  <a:lnTo>
                    <a:pt x="0" y="14298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61" t="0" r="-3461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28575"/>
              <a:ext cx="3431591" cy="14012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54"/>
                </a:lnSpc>
              </a:pPr>
              <a:r>
                <a:rPr lang="en-US" sz="5386" b="true">
                  <a:solidFill>
                    <a:srgbClr val="7DE54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51.5%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968573" y="3631863"/>
            <a:ext cx="4418181" cy="457562"/>
            <a:chOff x="0" y="0"/>
            <a:chExt cx="5890908" cy="61008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890904" cy="610077"/>
            </a:xfrm>
            <a:custGeom>
              <a:avLst/>
              <a:gdLst/>
              <a:ahLst/>
              <a:cxnLst/>
              <a:rect r="r" b="b" t="t" l="l"/>
              <a:pathLst>
                <a:path h="610077" w="5890904">
                  <a:moveTo>
                    <a:pt x="0" y="0"/>
                  </a:moveTo>
                  <a:lnTo>
                    <a:pt x="5890904" y="0"/>
                  </a:lnTo>
                  <a:lnTo>
                    <a:pt x="5890904" y="610077"/>
                  </a:lnTo>
                  <a:lnTo>
                    <a:pt x="0" y="6100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147" r="0" b="-13814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5890908" cy="676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2"/>
                </a:lnSpc>
              </a:pPr>
              <a:r>
                <a:rPr lang="en-US" sz="2154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Phase C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968573" y="4203811"/>
            <a:ext cx="4418181" cy="400364"/>
            <a:chOff x="0" y="0"/>
            <a:chExt cx="5890908" cy="53381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890904" cy="533815"/>
            </a:xfrm>
            <a:custGeom>
              <a:avLst/>
              <a:gdLst/>
              <a:ahLst/>
              <a:cxnLst/>
              <a:rect r="r" b="b" t="t" l="l"/>
              <a:pathLst>
                <a:path h="533815" w="5890904">
                  <a:moveTo>
                    <a:pt x="0" y="0"/>
                  </a:moveTo>
                  <a:lnTo>
                    <a:pt x="5890904" y="0"/>
                  </a:lnTo>
                  <a:lnTo>
                    <a:pt x="5890904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026" r="0" b="-16502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0"/>
              <a:ext cx="5890908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Focal Tversky Loss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669185" y="4832947"/>
            <a:ext cx="3002642" cy="629145"/>
            <a:chOff x="0" y="0"/>
            <a:chExt cx="4003523" cy="8388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003548" cy="838835"/>
            </a:xfrm>
            <a:custGeom>
              <a:avLst/>
              <a:gdLst/>
              <a:ahLst/>
              <a:cxnLst/>
              <a:rect r="r" b="b" t="t" l="l"/>
              <a:pathLst>
                <a:path h="838835" w="4003548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3698494" y="0"/>
                  </a:lnTo>
                  <a:cubicBezTo>
                    <a:pt x="3866896" y="0"/>
                    <a:pt x="4003548" y="136525"/>
                    <a:pt x="4003548" y="305054"/>
                  </a:cubicBezTo>
                  <a:lnTo>
                    <a:pt x="4003548" y="533781"/>
                  </a:lnTo>
                  <a:cubicBezTo>
                    <a:pt x="4003548" y="702183"/>
                    <a:pt x="3867023" y="838835"/>
                    <a:pt x="3698494" y="838835"/>
                  </a:cubicBezTo>
                  <a:lnTo>
                    <a:pt x="305054" y="838835"/>
                  </a:lnTo>
                  <a:cubicBezTo>
                    <a:pt x="136525" y="838835"/>
                    <a:pt x="0" y="702310"/>
                    <a:pt x="0" y="533781"/>
                  </a:cubicBezTo>
                  <a:close/>
                </a:path>
              </a:pathLst>
            </a:custGeom>
            <a:solidFill>
              <a:srgbClr val="7DE545">
                <a:alpha val="1961"/>
              </a:srgbClr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897956" y="5025561"/>
            <a:ext cx="285969" cy="243916"/>
            <a:chOff x="0" y="0"/>
            <a:chExt cx="381292" cy="325222"/>
          </a:xfrm>
        </p:grpSpPr>
        <p:sp>
          <p:nvSpPr>
            <p:cNvPr name="Freeform 55" id="55" descr="image.png"/>
            <p:cNvSpPr/>
            <p:nvPr/>
          </p:nvSpPr>
          <p:spPr>
            <a:xfrm flipH="false" flipV="false" rot="0">
              <a:off x="0" y="0"/>
              <a:ext cx="381254" cy="325247"/>
            </a:xfrm>
            <a:custGeom>
              <a:avLst/>
              <a:gdLst/>
              <a:ahLst/>
              <a:cxnLst/>
              <a:rect r="r" b="b" t="t" l="l"/>
              <a:pathLst>
                <a:path h="325247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25247"/>
                  </a:lnTo>
                  <a:lnTo>
                    <a:pt x="0" y="325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8" b="7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298311" y="4975936"/>
            <a:ext cx="2144744" cy="343167"/>
            <a:chOff x="0" y="0"/>
            <a:chExt cx="2859659" cy="4575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859662" cy="457557"/>
            </a:xfrm>
            <a:custGeom>
              <a:avLst/>
              <a:gdLst/>
              <a:ahLst/>
              <a:cxnLst/>
              <a:rect r="r" b="b" t="t" l="l"/>
              <a:pathLst>
                <a:path h="457557" w="2859662">
                  <a:moveTo>
                    <a:pt x="0" y="0"/>
                  </a:moveTo>
                  <a:lnTo>
                    <a:pt x="2859662" y="0"/>
                  </a:lnTo>
                  <a:lnTo>
                    <a:pt x="285966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78" r="0" b="-7177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2859659" cy="5242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43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Optimal performance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15095" y="6034040"/>
            <a:ext cx="5261781" cy="2859729"/>
            <a:chOff x="0" y="0"/>
            <a:chExt cx="7015709" cy="381297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015735" cy="3813048"/>
            </a:xfrm>
            <a:custGeom>
              <a:avLst/>
              <a:gdLst/>
              <a:ahLst/>
              <a:cxnLst/>
              <a:rect r="r" b="b" t="t" l="l"/>
              <a:pathLst>
                <a:path h="3813048" w="7015735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6558153" y="0"/>
                  </a:lnTo>
                  <a:cubicBezTo>
                    <a:pt x="6810883" y="0"/>
                    <a:pt x="7015735" y="204851"/>
                    <a:pt x="7015735" y="457581"/>
                  </a:cubicBezTo>
                  <a:lnTo>
                    <a:pt x="7015735" y="3355467"/>
                  </a:lnTo>
                  <a:cubicBezTo>
                    <a:pt x="7015735" y="3608197"/>
                    <a:pt x="6810883" y="3813048"/>
                    <a:pt x="6558153" y="3813048"/>
                  </a:cubicBezTo>
                  <a:lnTo>
                    <a:pt x="457581" y="3813048"/>
                  </a:lnTo>
                  <a:cubicBezTo>
                    <a:pt x="204851" y="3812921"/>
                    <a:pt x="0" y="3608070"/>
                    <a:pt x="0" y="3355467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58252" y="6468247"/>
            <a:ext cx="428949" cy="332661"/>
            <a:chOff x="0" y="0"/>
            <a:chExt cx="571932" cy="443547"/>
          </a:xfrm>
        </p:grpSpPr>
        <p:sp>
          <p:nvSpPr>
            <p:cNvPr name="Freeform 62" id="62" descr="image.png"/>
            <p:cNvSpPr/>
            <p:nvPr/>
          </p:nvSpPr>
          <p:spPr>
            <a:xfrm flipH="false" flipV="false" rot="0">
              <a:off x="0" y="0"/>
              <a:ext cx="571881" cy="443611"/>
            </a:xfrm>
            <a:custGeom>
              <a:avLst/>
              <a:gdLst/>
              <a:ahLst/>
              <a:cxnLst/>
              <a:rect r="r" b="b" t="t" l="l"/>
              <a:pathLst>
                <a:path h="443611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443611"/>
                  </a:lnTo>
                  <a:lnTo>
                    <a:pt x="0" y="44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9" b="14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858785" y="6434404"/>
            <a:ext cx="2473604" cy="400364"/>
            <a:chOff x="0" y="0"/>
            <a:chExt cx="3298139" cy="53381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98143" cy="533815"/>
            </a:xfrm>
            <a:custGeom>
              <a:avLst/>
              <a:gdLst/>
              <a:ahLst/>
              <a:cxnLst/>
              <a:rect r="r" b="b" t="t" l="l"/>
              <a:pathLst>
                <a:path h="533815" w="3298143">
                  <a:moveTo>
                    <a:pt x="0" y="0"/>
                  </a:moveTo>
                  <a:lnTo>
                    <a:pt x="3298143" y="0"/>
                  </a:lnTo>
                  <a:lnTo>
                    <a:pt x="3298143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86" r="0" b="-7038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3298139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Focal Tversky Loss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58252" y="7120738"/>
            <a:ext cx="4575458" cy="1258281"/>
            <a:chOff x="0" y="0"/>
            <a:chExt cx="6100610" cy="167770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100612" cy="1677711"/>
            </a:xfrm>
            <a:custGeom>
              <a:avLst/>
              <a:gdLst/>
              <a:ahLst/>
              <a:cxnLst/>
              <a:rect r="r" b="b" t="t" l="l"/>
              <a:pathLst>
                <a:path h="1677711" w="6100612">
                  <a:moveTo>
                    <a:pt x="0" y="0"/>
                  </a:moveTo>
                  <a:lnTo>
                    <a:pt x="6100612" y="0"/>
                  </a:lnTo>
                  <a:lnTo>
                    <a:pt x="6100612" y="1677711"/>
                  </a:lnTo>
                  <a:lnTo>
                    <a:pt x="0" y="16777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52" r="0" b="-2085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04775"/>
              <a:ext cx="6100610" cy="1782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9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Replaced BCE to address FN/FP imbalance. Penalizes difficult tumor boundary pixels more heavily.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520034" y="6034040"/>
            <a:ext cx="5261781" cy="2859729"/>
            <a:chOff x="0" y="0"/>
            <a:chExt cx="7015709" cy="381297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015735" cy="3813048"/>
            </a:xfrm>
            <a:custGeom>
              <a:avLst/>
              <a:gdLst/>
              <a:ahLst/>
              <a:cxnLst/>
              <a:rect r="r" b="b" t="t" l="l"/>
              <a:pathLst>
                <a:path h="3813048" w="7015735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6558153" y="0"/>
                  </a:lnTo>
                  <a:cubicBezTo>
                    <a:pt x="6810883" y="0"/>
                    <a:pt x="7015735" y="204851"/>
                    <a:pt x="7015735" y="457581"/>
                  </a:cubicBezTo>
                  <a:lnTo>
                    <a:pt x="7015735" y="3355467"/>
                  </a:lnTo>
                  <a:cubicBezTo>
                    <a:pt x="7015735" y="3608197"/>
                    <a:pt x="6810883" y="3813048"/>
                    <a:pt x="6558153" y="3813048"/>
                  </a:cubicBezTo>
                  <a:lnTo>
                    <a:pt x="457581" y="3813048"/>
                  </a:lnTo>
                  <a:cubicBezTo>
                    <a:pt x="204851" y="3812921"/>
                    <a:pt x="0" y="3608070"/>
                    <a:pt x="0" y="3355467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863191" y="6468247"/>
            <a:ext cx="428949" cy="332661"/>
            <a:chOff x="0" y="0"/>
            <a:chExt cx="571932" cy="443547"/>
          </a:xfrm>
        </p:grpSpPr>
        <p:sp>
          <p:nvSpPr>
            <p:cNvPr name="Freeform 72" id="72" descr="image.png"/>
            <p:cNvSpPr/>
            <p:nvPr/>
          </p:nvSpPr>
          <p:spPr>
            <a:xfrm flipH="false" flipV="false" rot="0">
              <a:off x="0" y="0"/>
              <a:ext cx="571881" cy="443611"/>
            </a:xfrm>
            <a:custGeom>
              <a:avLst/>
              <a:gdLst/>
              <a:ahLst/>
              <a:cxnLst/>
              <a:rect r="r" b="b" t="t" l="l"/>
              <a:pathLst>
                <a:path h="443611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443611"/>
                  </a:lnTo>
                  <a:lnTo>
                    <a:pt x="0" y="44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9" b="14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7463714" y="6434404"/>
            <a:ext cx="2287734" cy="400364"/>
            <a:chOff x="0" y="0"/>
            <a:chExt cx="3050311" cy="53381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050305" cy="533815"/>
            </a:xfrm>
            <a:custGeom>
              <a:avLst/>
              <a:gdLst/>
              <a:ahLst/>
              <a:cxnLst/>
              <a:rect r="r" b="b" t="t" l="l"/>
              <a:pathLst>
                <a:path h="533815" w="3050305">
                  <a:moveTo>
                    <a:pt x="0" y="0"/>
                  </a:moveTo>
                  <a:lnTo>
                    <a:pt x="3050305" y="0"/>
                  </a:lnTo>
                  <a:lnTo>
                    <a:pt x="3050305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0" r="0" b="-6134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66675"/>
              <a:ext cx="3050311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Hyperparameters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863191" y="7120738"/>
            <a:ext cx="4575458" cy="400364"/>
            <a:chOff x="0" y="0"/>
            <a:chExt cx="6100610" cy="53381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100612" cy="533815"/>
            </a:xfrm>
            <a:custGeom>
              <a:avLst/>
              <a:gdLst/>
              <a:ahLst/>
              <a:cxnLst/>
              <a:rect r="r" b="b" t="t" l="l"/>
              <a:pathLst>
                <a:path h="533815" w="6100612">
                  <a:moveTo>
                    <a:pt x="0" y="0"/>
                  </a:moveTo>
                  <a:lnTo>
                    <a:pt x="6100612" y="0"/>
                  </a:lnTo>
                  <a:lnTo>
                    <a:pt x="6100612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0" r="0" b="-17268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0"/>
              <a:ext cx="6100610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α = 0.3</a:t>
              </a: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 (False Negative penalty)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863191" y="7635488"/>
            <a:ext cx="4575458" cy="400364"/>
            <a:chOff x="0" y="0"/>
            <a:chExt cx="6100610" cy="53381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100612" cy="533815"/>
            </a:xfrm>
            <a:custGeom>
              <a:avLst/>
              <a:gdLst/>
              <a:ahLst/>
              <a:cxnLst/>
              <a:rect r="r" b="b" t="t" l="l"/>
              <a:pathLst>
                <a:path h="533815" w="6100612">
                  <a:moveTo>
                    <a:pt x="0" y="0"/>
                  </a:moveTo>
                  <a:lnTo>
                    <a:pt x="6100612" y="0"/>
                  </a:lnTo>
                  <a:lnTo>
                    <a:pt x="6100612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0" r="0" b="-17268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0"/>
              <a:ext cx="6100610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β = 0.7</a:t>
              </a: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 (False Positive penalty)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863191" y="8150238"/>
            <a:ext cx="4575458" cy="400364"/>
            <a:chOff x="0" y="0"/>
            <a:chExt cx="6100610" cy="53381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100612" cy="533815"/>
            </a:xfrm>
            <a:custGeom>
              <a:avLst/>
              <a:gdLst/>
              <a:ahLst/>
              <a:cxnLst/>
              <a:rect r="r" b="b" t="t" l="l"/>
              <a:pathLst>
                <a:path h="533815" w="6100612">
                  <a:moveTo>
                    <a:pt x="0" y="0"/>
                  </a:moveTo>
                  <a:lnTo>
                    <a:pt x="6100612" y="0"/>
                  </a:lnTo>
                  <a:lnTo>
                    <a:pt x="6100612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0" r="0" b="-17268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0"/>
              <a:ext cx="6100610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γ = 0.75</a:t>
              </a: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 (Focusing parameter)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124973" y="6034040"/>
            <a:ext cx="5261781" cy="2859729"/>
            <a:chOff x="0" y="0"/>
            <a:chExt cx="7015709" cy="381297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015735" cy="3813048"/>
            </a:xfrm>
            <a:custGeom>
              <a:avLst/>
              <a:gdLst/>
              <a:ahLst/>
              <a:cxnLst/>
              <a:rect r="r" b="b" t="t" l="l"/>
              <a:pathLst>
                <a:path h="3813048" w="7015735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lnTo>
                    <a:pt x="6558153" y="0"/>
                  </a:lnTo>
                  <a:cubicBezTo>
                    <a:pt x="6810883" y="0"/>
                    <a:pt x="7015735" y="204851"/>
                    <a:pt x="7015735" y="457581"/>
                  </a:cubicBezTo>
                  <a:lnTo>
                    <a:pt x="7015735" y="3355467"/>
                  </a:lnTo>
                  <a:cubicBezTo>
                    <a:pt x="7015735" y="3608197"/>
                    <a:pt x="6810883" y="3813048"/>
                    <a:pt x="6558153" y="3813048"/>
                  </a:cubicBezTo>
                  <a:lnTo>
                    <a:pt x="457581" y="3813048"/>
                  </a:lnTo>
                  <a:cubicBezTo>
                    <a:pt x="204851" y="3812921"/>
                    <a:pt x="0" y="3608070"/>
                    <a:pt x="0" y="3355467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2468130" y="6441986"/>
            <a:ext cx="428949" cy="385191"/>
            <a:chOff x="0" y="0"/>
            <a:chExt cx="571932" cy="513588"/>
          </a:xfrm>
        </p:grpSpPr>
        <p:sp>
          <p:nvSpPr>
            <p:cNvPr name="Freeform 88" id="88" descr="image.png"/>
            <p:cNvSpPr/>
            <p:nvPr/>
          </p:nvSpPr>
          <p:spPr>
            <a:xfrm flipH="false" flipV="false" rot="0">
              <a:off x="0" y="0"/>
              <a:ext cx="571881" cy="513588"/>
            </a:xfrm>
            <a:custGeom>
              <a:avLst/>
              <a:gdLst/>
              <a:ahLst/>
              <a:cxnLst/>
              <a:rect r="r" b="b" t="t" l="l"/>
              <a:pathLst>
                <a:path h="513588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513588"/>
                  </a:lnTo>
                  <a:lnTo>
                    <a:pt x="0" y="5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-9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068662" y="6434404"/>
            <a:ext cx="2259130" cy="400364"/>
            <a:chOff x="0" y="0"/>
            <a:chExt cx="3012173" cy="53381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012177" cy="533815"/>
            </a:xfrm>
            <a:custGeom>
              <a:avLst/>
              <a:gdLst/>
              <a:ahLst/>
              <a:cxnLst/>
              <a:rect r="r" b="b" t="t" l="l"/>
              <a:pathLst>
                <a:path h="533815" w="3012177">
                  <a:moveTo>
                    <a:pt x="0" y="0"/>
                  </a:moveTo>
                  <a:lnTo>
                    <a:pt x="3012177" y="0"/>
                  </a:lnTo>
                  <a:lnTo>
                    <a:pt x="3012177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48" r="0" b="-5994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66675"/>
              <a:ext cx="3012173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Key Achievement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468130" y="7120738"/>
            <a:ext cx="4575458" cy="1258281"/>
            <a:chOff x="0" y="0"/>
            <a:chExt cx="6100610" cy="167770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100612" cy="1677711"/>
            </a:xfrm>
            <a:custGeom>
              <a:avLst/>
              <a:gdLst/>
              <a:ahLst/>
              <a:cxnLst/>
              <a:rect r="r" b="b" t="t" l="l"/>
              <a:pathLst>
                <a:path h="1677711" w="6100612">
                  <a:moveTo>
                    <a:pt x="0" y="0"/>
                  </a:moveTo>
                  <a:lnTo>
                    <a:pt x="6100612" y="0"/>
                  </a:lnTo>
                  <a:lnTo>
                    <a:pt x="6100612" y="1677711"/>
                  </a:lnTo>
                  <a:lnTo>
                    <a:pt x="0" y="16777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52" r="0" b="-2085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04775"/>
              <a:ext cx="6100610" cy="1782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29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Eliminated false-positive hallucinations on healthy scans. Forced model to focus on tumor boundary pixels.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3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5095" y="1429864"/>
            <a:ext cx="9608468" cy="643442"/>
            <a:chOff x="0" y="0"/>
            <a:chExt cx="12811290" cy="8579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11287" cy="857920"/>
            </a:xfrm>
            <a:custGeom>
              <a:avLst/>
              <a:gdLst/>
              <a:ahLst/>
              <a:cxnLst/>
              <a:rect r="r" b="b" t="t" l="l"/>
              <a:pathLst>
                <a:path h="857920" w="12811287">
                  <a:moveTo>
                    <a:pt x="0" y="0"/>
                  </a:moveTo>
                  <a:lnTo>
                    <a:pt x="12811287" y="0"/>
                  </a:lnTo>
                  <a:lnTo>
                    <a:pt x="12811287" y="857920"/>
                  </a:lnTo>
                  <a:lnTo>
                    <a:pt x="0" y="857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969" r="0" b="-24096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2811290" cy="924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90"/>
                </a:lnSpc>
              </a:pPr>
              <a:r>
                <a:rPr lang="en-US" sz="323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Final Output + Deployment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5095" y="2287781"/>
            <a:ext cx="1143867" cy="57198"/>
            <a:chOff x="0" y="0"/>
            <a:chExt cx="1525156" cy="762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5143" cy="76200"/>
            </a:xfrm>
            <a:custGeom>
              <a:avLst/>
              <a:gdLst/>
              <a:ahLst/>
              <a:cxnLst/>
              <a:rect r="r" b="b" t="t" l="l"/>
              <a:pathLst>
                <a:path h="76200" w="1525143">
                  <a:moveTo>
                    <a:pt x="0" y="0"/>
                  </a:moveTo>
                  <a:lnTo>
                    <a:pt x="1525143" y="0"/>
                  </a:lnTo>
                  <a:lnTo>
                    <a:pt x="152514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7DE54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5095" y="2688146"/>
            <a:ext cx="6212610" cy="2116198"/>
            <a:chOff x="0" y="0"/>
            <a:chExt cx="8283480" cy="28215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83569" cy="2821686"/>
            </a:xfrm>
            <a:custGeom>
              <a:avLst/>
              <a:gdLst/>
              <a:ahLst/>
              <a:cxnLst/>
              <a:rect r="r" b="b" t="t" l="l"/>
              <a:pathLst>
                <a:path h="2821686" w="8283569">
                  <a:moveTo>
                    <a:pt x="0" y="457581"/>
                  </a:moveTo>
                  <a:cubicBezTo>
                    <a:pt x="0" y="204851"/>
                    <a:pt x="132452" y="0"/>
                    <a:pt x="295861" y="0"/>
                  </a:cubicBezTo>
                  <a:lnTo>
                    <a:pt x="7987676" y="0"/>
                  </a:lnTo>
                  <a:cubicBezTo>
                    <a:pt x="8151085" y="0"/>
                    <a:pt x="8283569" y="204851"/>
                    <a:pt x="8283569" y="457581"/>
                  </a:cubicBezTo>
                  <a:lnTo>
                    <a:pt x="8283569" y="2364105"/>
                  </a:lnTo>
                  <a:cubicBezTo>
                    <a:pt x="8283569" y="2616835"/>
                    <a:pt x="8151085" y="2821686"/>
                    <a:pt x="7987676" y="2821686"/>
                  </a:cubicBezTo>
                  <a:lnTo>
                    <a:pt x="295861" y="2821686"/>
                  </a:lnTo>
                  <a:cubicBezTo>
                    <a:pt x="132452" y="2821559"/>
                    <a:pt x="0" y="2616708"/>
                    <a:pt x="0" y="2364105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01055" y="3078499"/>
            <a:ext cx="343157" cy="248793"/>
            <a:chOff x="0" y="0"/>
            <a:chExt cx="457543" cy="331724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6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15795" y="3002718"/>
            <a:ext cx="2230536" cy="400364"/>
            <a:chOff x="0" y="0"/>
            <a:chExt cx="2974048" cy="5338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74048" cy="533815"/>
            </a:xfrm>
            <a:custGeom>
              <a:avLst/>
              <a:gdLst/>
              <a:ahLst/>
              <a:cxnLst/>
              <a:rect r="r" b="b" t="t" l="l"/>
              <a:pathLst>
                <a:path h="533815" w="2974048">
                  <a:moveTo>
                    <a:pt x="0" y="0"/>
                  </a:moveTo>
                  <a:lnTo>
                    <a:pt x="2974048" y="0"/>
                  </a:lnTo>
                  <a:lnTo>
                    <a:pt x="2974048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556" r="0" b="-5855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974048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Models Exported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72993" y="3774853"/>
            <a:ext cx="85792" cy="85792"/>
            <a:chOff x="0" y="0"/>
            <a:chExt cx="114389" cy="1143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654"/>
                    <a:pt x="25654" y="0"/>
                    <a:pt x="57150" y="0"/>
                  </a:cubicBezTo>
                  <a:cubicBezTo>
                    <a:pt x="88646" y="0"/>
                    <a:pt x="114300" y="25654"/>
                    <a:pt x="114300" y="57150"/>
                  </a:cubicBezTo>
                  <a:cubicBezTo>
                    <a:pt x="114300" y="88773"/>
                    <a:pt x="88646" y="114300"/>
                    <a:pt x="57150" y="114300"/>
                  </a:cubicBezTo>
                  <a:cubicBezTo>
                    <a:pt x="25654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7DE54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73170" y="3603269"/>
            <a:ext cx="5719324" cy="400364"/>
            <a:chOff x="0" y="0"/>
            <a:chExt cx="7625766" cy="5338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5766" cy="533815"/>
            </a:xfrm>
            <a:custGeom>
              <a:avLst/>
              <a:gdLst/>
              <a:ahLst/>
              <a:cxnLst/>
              <a:rect r="r" b="b" t="t" l="l"/>
              <a:pathLst>
                <a:path h="533815" w="7625766">
                  <a:moveTo>
                    <a:pt x="0" y="0"/>
                  </a:moveTo>
                  <a:lnTo>
                    <a:pt x="7625766" y="0"/>
                  </a:lnTo>
                  <a:lnTo>
                    <a:pt x="7625766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1" r="0" b="-2283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7625766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Arimo"/>
                  <a:ea typeface="Arimo"/>
                  <a:cs typeface="Arimo"/>
                  <a:sym typeface="Arimo"/>
                </a:rPr>
                <a:t>brain_tumor_resnet50_pipeline_f.keras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72993" y="4289603"/>
            <a:ext cx="85792" cy="85792"/>
            <a:chOff x="0" y="0"/>
            <a:chExt cx="114389" cy="1143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654"/>
                    <a:pt x="25654" y="0"/>
                    <a:pt x="57150" y="0"/>
                  </a:cubicBezTo>
                  <a:cubicBezTo>
                    <a:pt x="88646" y="0"/>
                    <a:pt x="114300" y="25654"/>
                    <a:pt x="114300" y="57150"/>
                  </a:cubicBezTo>
                  <a:cubicBezTo>
                    <a:pt x="114300" y="88773"/>
                    <a:pt x="88646" y="114300"/>
                    <a:pt x="57150" y="114300"/>
                  </a:cubicBezTo>
                  <a:cubicBezTo>
                    <a:pt x="25654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7DE54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973170" y="4118019"/>
            <a:ext cx="6334154" cy="400364"/>
            <a:chOff x="0" y="0"/>
            <a:chExt cx="8445538" cy="5338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445536" cy="533815"/>
            </a:xfrm>
            <a:custGeom>
              <a:avLst/>
              <a:gdLst/>
              <a:ahLst/>
              <a:cxnLst/>
              <a:rect r="r" b="b" t="t" l="l"/>
              <a:pathLst>
                <a:path h="533815" w="8445536">
                  <a:moveTo>
                    <a:pt x="0" y="0"/>
                  </a:moveTo>
                  <a:lnTo>
                    <a:pt x="8445536" y="0"/>
                  </a:lnTo>
                  <a:lnTo>
                    <a:pt x="8445536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274" r="0" b="-25827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8445538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Arimo"/>
                  <a:ea typeface="Arimo"/>
                  <a:cs typeface="Arimo"/>
                  <a:sym typeface="Arimo"/>
                </a:rPr>
                <a:t>Brain_Tumor_Segmentation_FTL_Winner.keras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5095" y="5090322"/>
            <a:ext cx="3106305" cy="2116198"/>
            <a:chOff x="0" y="0"/>
            <a:chExt cx="4141740" cy="28215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41723" cy="2821686"/>
            </a:xfrm>
            <a:custGeom>
              <a:avLst/>
              <a:gdLst/>
              <a:ahLst/>
              <a:cxnLst/>
              <a:rect r="r" b="b" t="t" l="l"/>
              <a:pathLst>
                <a:path h="2821686" w="4141723">
                  <a:moveTo>
                    <a:pt x="0" y="457581"/>
                  </a:moveTo>
                  <a:cubicBezTo>
                    <a:pt x="0" y="204851"/>
                    <a:pt x="135683" y="0"/>
                    <a:pt x="303078" y="0"/>
                  </a:cubicBezTo>
                  <a:lnTo>
                    <a:pt x="3838646" y="0"/>
                  </a:lnTo>
                  <a:cubicBezTo>
                    <a:pt x="4006040" y="0"/>
                    <a:pt x="4141723" y="204851"/>
                    <a:pt x="4141723" y="457581"/>
                  </a:cubicBezTo>
                  <a:lnTo>
                    <a:pt x="4141723" y="2364105"/>
                  </a:lnTo>
                  <a:cubicBezTo>
                    <a:pt x="4141723" y="2616835"/>
                    <a:pt x="4006040" y="2821686"/>
                    <a:pt x="3838646" y="2821686"/>
                  </a:cubicBezTo>
                  <a:lnTo>
                    <a:pt x="303078" y="2821686"/>
                  </a:lnTo>
                  <a:cubicBezTo>
                    <a:pt x="135683" y="2821559"/>
                    <a:pt x="0" y="2616708"/>
                    <a:pt x="0" y="2364105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01055" y="5510708"/>
            <a:ext cx="343157" cy="188738"/>
            <a:chOff x="0" y="0"/>
            <a:chExt cx="457543" cy="251651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457581" cy="251714"/>
            </a:xfrm>
            <a:custGeom>
              <a:avLst/>
              <a:gdLst/>
              <a:ahLst/>
              <a:cxnLst/>
              <a:rect r="r" b="b" t="t" l="l"/>
              <a:pathLst>
                <a:path h="25171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251714"/>
                  </a:lnTo>
                  <a:lnTo>
                    <a:pt x="0" y="25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6" b="25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15795" y="5404895"/>
            <a:ext cx="1444133" cy="400364"/>
            <a:chOff x="0" y="0"/>
            <a:chExt cx="1925510" cy="53381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25504" cy="533815"/>
            </a:xfrm>
            <a:custGeom>
              <a:avLst/>
              <a:gdLst/>
              <a:ahLst/>
              <a:cxnLst/>
              <a:rect r="r" b="b" t="t" l="l"/>
              <a:pathLst>
                <a:path h="533815" w="1925504">
                  <a:moveTo>
                    <a:pt x="0" y="0"/>
                  </a:moveTo>
                  <a:lnTo>
                    <a:pt x="1925504" y="0"/>
                  </a:lnTo>
                  <a:lnTo>
                    <a:pt x="1925504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283" r="0" b="-2028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925510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Tech Stack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01055" y="6093543"/>
            <a:ext cx="257366" cy="224161"/>
            <a:chOff x="0" y="0"/>
            <a:chExt cx="343154" cy="298882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343154" cy="298831"/>
            </a:xfrm>
            <a:custGeom>
              <a:avLst/>
              <a:gdLst/>
              <a:ahLst/>
              <a:cxnLst/>
              <a:rect r="r" b="b" t="t" l="l"/>
              <a:pathLst>
                <a:path h="298831" w="343154">
                  <a:moveTo>
                    <a:pt x="0" y="0"/>
                  </a:moveTo>
                  <a:lnTo>
                    <a:pt x="343154" y="0"/>
                  </a:lnTo>
                  <a:lnTo>
                    <a:pt x="343154" y="298831"/>
                  </a:lnTo>
                  <a:lnTo>
                    <a:pt x="0" y="298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2" b="-16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72816" y="6005446"/>
            <a:ext cx="1915973" cy="400364"/>
            <a:chOff x="0" y="0"/>
            <a:chExt cx="2554630" cy="53381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54632" cy="533815"/>
            </a:xfrm>
            <a:custGeom>
              <a:avLst/>
              <a:gdLst/>
              <a:ahLst/>
              <a:cxnLst/>
              <a:rect r="r" b="b" t="t" l="l"/>
              <a:pathLst>
                <a:path h="533815" w="2554632">
                  <a:moveTo>
                    <a:pt x="0" y="0"/>
                  </a:moveTo>
                  <a:lnTo>
                    <a:pt x="2554632" y="0"/>
                  </a:lnTo>
                  <a:lnTo>
                    <a:pt x="2554632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247" r="0" b="-4324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0"/>
              <a:ext cx="2554630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FastAPI Backend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01055" y="6608293"/>
            <a:ext cx="257366" cy="224161"/>
            <a:chOff x="0" y="0"/>
            <a:chExt cx="343154" cy="298882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343154" cy="298831"/>
            </a:xfrm>
            <a:custGeom>
              <a:avLst/>
              <a:gdLst/>
              <a:ahLst/>
              <a:cxnLst/>
              <a:rect r="r" b="b" t="t" l="l"/>
              <a:pathLst>
                <a:path h="298831" w="343154">
                  <a:moveTo>
                    <a:pt x="0" y="0"/>
                  </a:moveTo>
                  <a:lnTo>
                    <a:pt x="343154" y="0"/>
                  </a:lnTo>
                  <a:lnTo>
                    <a:pt x="343154" y="298831"/>
                  </a:lnTo>
                  <a:lnTo>
                    <a:pt x="0" y="298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2" b="-16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72816" y="6520196"/>
            <a:ext cx="1873082" cy="400364"/>
            <a:chOff x="0" y="0"/>
            <a:chExt cx="2497442" cy="53381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97437" cy="533815"/>
            </a:xfrm>
            <a:custGeom>
              <a:avLst/>
              <a:gdLst/>
              <a:ahLst/>
              <a:cxnLst/>
              <a:rect r="r" b="b" t="t" l="l"/>
              <a:pathLst>
                <a:path h="533815" w="2497437">
                  <a:moveTo>
                    <a:pt x="0" y="0"/>
                  </a:moveTo>
                  <a:lnTo>
                    <a:pt x="2497437" y="0"/>
                  </a:lnTo>
                  <a:lnTo>
                    <a:pt x="2497437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159" r="0" b="-4116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0"/>
              <a:ext cx="2497442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Next.js Frontend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286267" y="5143500"/>
            <a:ext cx="2866125" cy="2116198"/>
            <a:chOff x="0" y="0"/>
            <a:chExt cx="3821500" cy="282159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21485" cy="2821686"/>
            </a:xfrm>
            <a:custGeom>
              <a:avLst/>
              <a:gdLst/>
              <a:ahLst/>
              <a:cxnLst/>
              <a:rect r="r" b="b" t="t" l="l"/>
              <a:pathLst>
                <a:path h="2821686" w="3821485">
                  <a:moveTo>
                    <a:pt x="0" y="457581"/>
                  </a:moveTo>
                  <a:cubicBezTo>
                    <a:pt x="0" y="204851"/>
                    <a:pt x="125192" y="0"/>
                    <a:pt x="279644" y="0"/>
                  </a:cubicBezTo>
                  <a:lnTo>
                    <a:pt x="3541841" y="0"/>
                  </a:lnTo>
                  <a:cubicBezTo>
                    <a:pt x="3696293" y="0"/>
                    <a:pt x="3821485" y="204851"/>
                    <a:pt x="3821485" y="457581"/>
                  </a:cubicBezTo>
                  <a:lnTo>
                    <a:pt x="3821485" y="2364105"/>
                  </a:lnTo>
                  <a:cubicBezTo>
                    <a:pt x="3821485" y="2616835"/>
                    <a:pt x="3696293" y="2821686"/>
                    <a:pt x="3541841" y="2821686"/>
                  </a:cubicBezTo>
                  <a:lnTo>
                    <a:pt x="279644" y="2821686"/>
                  </a:lnTo>
                  <a:cubicBezTo>
                    <a:pt x="125192" y="2821559"/>
                    <a:pt x="0" y="2616708"/>
                    <a:pt x="0" y="2364105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4572236" y="5533854"/>
            <a:ext cx="343157" cy="248793"/>
            <a:chOff x="0" y="0"/>
            <a:chExt cx="457543" cy="331724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086976" y="5458073"/>
            <a:ext cx="1587113" cy="400364"/>
            <a:chOff x="0" y="0"/>
            <a:chExt cx="2116150" cy="53381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16149" cy="533815"/>
            </a:xfrm>
            <a:custGeom>
              <a:avLst/>
              <a:gdLst/>
              <a:ahLst/>
              <a:cxnLst/>
              <a:rect r="r" b="b" t="t" l="l"/>
              <a:pathLst>
                <a:path h="533815" w="2116149">
                  <a:moveTo>
                    <a:pt x="0" y="0"/>
                  </a:moveTo>
                  <a:lnTo>
                    <a:pt x="2116149" y="0"/>
                  </a:lnTo>
                  <a:lnTo>
                    <a:pt x="211614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42" r="0" b="-2724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2116150" cy="600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795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Deployment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572236" y="6146721"/>
            <a:ext cx="257366" cy="224161"/>
            <a:chOff x="0" y="0"/>
            <a:chExt cx="343154" cy="298882"/>
          </a:xfrm>
        </p:grpSpPr>
        <p:sp>
          <p:nvSpPr>
            <p:cNvPr name="Freeform 49" id="49" descr="image.png"/>
            <p:cNvSpPr/>
            <p:nvPr/>
          </p:nvSpPr>
          <p:spPr>
            <a:xfrm flipH="false" flipV="false" rot="0">
              <a:off x="0" y="0"/>
              <a:ext cx="343154" cy="298831"/>
            </a:xfrm>
            <a:custGeom>
              <a:avLst/>
              <a:gdLst/>
              <a:ahLst/>
              <a:cxnLst/>
              <a:rect r="r" b="b" t="t" l="l"/>
              <a:pathLst>
                <a:path h="298831" w="343154">
                  <a:moveTo>
                    <a:pt x="0" y="0"/>
                  </a:moveTo>
                  <a:lnTo>
                    <a:pt x="343154" y="0"/>
                  </a:lnTo>
                  <a:lnTo>
                    <a:pt x="343154" y="298831"/>
                  </a:lnTo>
                  <a:lnTo>
                    <a:pt x="0" y="298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2" b="-16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943987" y="6058624"/>
            <a:ext cx="1272550" cy="400364"/>
            <a:chOff x="0" y="0"/>
            <a:chExt cx="1696733" cy="53381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96732" cy="533815"/>
            </a:xfrm>
            <a:custGeom>
              <a:avLst/>
              <a:gdLst/>
              <a:ahLst/>
              <a:cxnLst/>
              <a:rect r="r" b="b" t="t" l="l"/>
              <a:pathLst>
                <a:path h="533815" w="1696732">
                  <a:moveTo>
                    <a:pt x="0" y="0"/>
                  </a:moveTo>
                  <a:lnTo>
                    <a:pt x="1696732" y="0"/>
                  </a:lnTo>
                  <a:lnTo>
                    <a:pt x="1696732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32" r="0" b="-1193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0"/>
              <a:ext cx="1696733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Dockerized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572236" y="6661471"/>
            <a:ext cx="257366" cy="224161"/>
            <a:chOff x="0" y="0"/>
            <a:chExt cx="343154" cy="298882"/>
          </a:xfrm>
        </p:grpSpPr>
        <p:sp>
          <p:nvSpPr>
            <p:cNvPr name="Freeform 54" id="54" descr="image.png"/>
            <p:cNvSpPr/>
            <p:nvPr/>
          </p:nvSpPr>
          <p:spPr>
            <a:xfrm flipH="false" flipV="false" rot="0">
              <a:off x="0" y="0"/>
              <a:ext cx="343154" cy="298831"/>
            </a:xfrm>
            <a:custGeom>
              <a:avLst/>
              <a:gdLst/>
              <a:ahLst/>
              <a:cxnLst/>
              <a:rect r="r" b="b" t="t" l="l"/>
              <a:pathLst>
                <a:path h="298831" w="343154">
                  <a:moveTo>
                    <a:pt x="0" y="0"/>
                  </a:moveTo>
                  <a:lnTo>
                    <a:pt x="343154" y="0"/>
                  </a:lnTo>
                  <a:lnTo>
                    <a:pt x="343154" y="298831"/>
                  </a:lnTo>
                  <a:lnTo>
                    <a:pt x="0" y="298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2" b="-16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4943987" y="6573374"/>
            <a:ext cx="1329738" cy="400364"/>
            <a:chOff x="0" y="0"/>
            <a:chExt cx="1772983" cy="53381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772989" cy="533815"/>
            </a:xfrm>
            <a:custGeom>
              <a:avLst/>
              <a:gdLst/>
              <a:ahLst/>
              <a:cxnLst/>
              <a:rect r="r" b="b" t="t" l="l"/>
              <a:pathLst>
                <a:path h="533815" w="1772989">
                  <a:moveTo>
                    <a:pt x="0" y="0"/>
                  </a:moveTo>
                  <a:lnTo>
                    <a:pt x="1772989" y="0"/>
                  </a:lnTo>
                  <a:lnTo>
                    <a:pt x="1772989" y="533815"/>
                  </a:lnTo>
                  <a:lnTo>
                    <a:pt x="0" y="533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16" r="0" b="-1471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0"/>
              <a:ext cx="1772983" cy="62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>
                  <a:solidFill>
                    <a:srgbClr val="D1D5DB"/>
                  </a:solidFill>
                  <a:latin typeface="Roboto"/>
                  <a:ea typeface="Roboto"/>
                  <a:cs typeface="Roboto"/>
                  <a:sym typeface="Roboto"/>
                </a:rPr>
                <a:t>AWS-Ready</a:t>
              </a: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7466717" y="1429864"/>
            <a:ext cx="10639402" cy="8315855"/>
          </a:xfrm>
          <a:custGeom>
            <a:avLst/>
            <a:gdLst/>
            <a:ahLst/>
            <a:cxnLst/>
            <a:rect r="r" b="b" t="t" l="l"/>
            <a:pathLst>
              <a:path h="8315855" w="10639402">
                <a:moveTo>
                  <a:pt x="0" y="0"/>
                </a:moveTo>
                <a:lnTo>
                  <a:pt x="10639402" y="0"/>
                </a:lnTo>
                <a:lnTo>
                  <a:pt x="10639402" y="8315855"/>
                </a:lnTo>
                <a:lnTo>
                  <a:pt x="0" y="83158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932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3365" y="4463265"/>
            <a:ext cx="15241270" cy="1800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23"/>
              </a:lnSpc>
              <a:spcBef>
                <a:spcPct val="0"/>
              </a:spcBef>
            </a:pPr>
            <a:r>
              <a:rPr lang="en-US" sz="9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Thank You for your attention 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DAHKMPFumXc</dc:identifier>
  <dcterms:modified xsi:type="dcterms:W3CDTF">2011-08-01T06:04:30Z</dcterms:modified>
  <cp:revision>1</cp:revision>
  <dc:title>NeuroScanAI — Brain Tumor Detection &amp; Segmentation.pptx</dc:title>
</cp:coreProperties>
</file>