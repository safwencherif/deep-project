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></Relationship>
  <Relationship Id="rId2" Type="http://schemas.openxmlformats.org/package/2006/relationships/metadata/thumbnail" Target="docProps/thumbnail.jpeg"></Relationship>
  <Relationship Id="rId3" Type="http://schemas.openxmlformats.org/package/2006/relationships/metadata/core-properties" Target="docProps/core.xml"></Relationship>
  <Relationship Id="rId4" Type="http://schemas.openxmlformats.org/officeDocument/2006/relationships/extended-properties" Target="docProps/app.xml"></Relationship>
  <Relationship Id="rId5" Type="http://schemas.openxmlformats.org/officeDocument/2006/relationships/custom-properties" Target="docProps/custom.xml"></Relationship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9325E">
                  <a:alpha val="92000"/>
                </a:srgbClr>
              </a:gs>
              <a:gs pos="100000">
                <a:srgbClr val="09325E">
                  <a:alpha val="8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4857" y="1266824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7DE545">
              <a:alpha val="1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67253" y="1473367"/>
            <a:ext cx="457188" cy="348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169" y="2562224"/>
            <a:ext cx="9753356" cy="1428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875"/>
              </a:lnSpc>
              <a:spcBef>
                <a:spcPts val="0"/>
              </a:spcBef>
              <a:spcAft>
                <a:spcPts val="1560"/>
              </a:spcAft>
            </a:pPr>
            <a:r>
              <a:rPr sz="3588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NeuroScanAI — Brain Tumor Detection &amp; Segmentation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8" y="4219575"/>
            <a:ext cx="2438339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5072" y="4562475"/>
            <a:ext cx="599107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Two‑stage Deep Learning Pipeline (ResNet50 + ResUNet)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19429" y="5369242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24221" y="5324474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Deep Learning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524361" y="5360669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29154" y="5324474"/>
            <a:ext cx="7905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Medical AI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914977" y="5369242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19769" y="5324474"/>
            <a:ext cx="11429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Tumor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gradFill rotWithShape="1">
            <a:gsLst>
              <a:gs pos="0">
                <a:srgbClr val="09325E">
                  <a:alpha val="0"/>
                </a:srgbClr>
              </a:gs>
              <a:gs pos="100000">
                <a:srgbClr val="09325E">
                  <a:alpha val="4000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05432" y="304800"/>
            <a:ext cx="4876678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1040"/>
              </a:spcAft>
            </a:pPr>
            <a:r>
              <a:rPr sz="2870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Problem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432" y="1600200"/>
            <a:ext cx="761980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05432" y="209549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829254" y="2251398"/>
            <a:ext cx="285742" cy="2216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29314" y="2095499"/>
            <a:ext cx="415279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Critical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314" y="2476499"/>
            <a:ext cx="4152796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Brain tumors are deadly; early detection saves lives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432" y="34861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29254" y="3630385"/>
            <a:ext cx="285742" cy="244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29314" y="3486150"/>
            <a:ext cx="415279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Manual 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314" y="3867149"/>
            <a:ext cx="415279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Manual segmentation is slow and expensive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05432" y="45529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29254" y="4703017"/>
            <a:ext cx="285742" cy="2332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29314" y="4552949"/>
            <a:ext cx="415279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AI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314" y="4933950"/>
            <a:ext cx="415279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AI can screen + localize tumors efficiently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432" y="6019800"/>
            <a:ext cx="487667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Automation transforms radiology workflows by accelerating diagnosis and reducing clinical workload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323849"/>
            <a:ext cx="4876678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1040"/>
              </a:spcAft>
            </a:pPr>
            <a:r>
              <a:rPr sz="2870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Data &amp;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619250"/>
            <a:ext cx="761980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584" y="20383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23881" y="2178367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169" y="2038349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Dataset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23431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LGG MRI Segmentation (Kaggle)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29146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23881" y="3071812"/>
            <a:ext cx="228594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9169" y="29146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Dataset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169" y="3219449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110 patients, MRI slices + tumor masks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7909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23881" y="3930967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9169" y="3790949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169" y="4095749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Resized to 256×256, normalized to [0,1]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6672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23881" y="4807267"/>
            <a:ext cx="228594" cy="177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19169" y="4667249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Data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169" y="49720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tf.data pipeline + multi‑GPU (2×T4)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" y="5924549"/>
            <a:ext cx="102867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2,556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" y="6343650"/>
            <a:ext cx="10286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Healthy Slices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66853" y="5924549"/>
            <a:ext cx="102867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1,373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66853" y="6343650"/>
            <a:ext cx="10286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Tumor Slices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639" y="809625"/>
            <a:ext cx="5486262" cy="5238749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53036" y="5476875"/>
            <a:ext cx="5181470" cy="419100"/>
          </a:xfrm>
          <a:prstGeom prst="roundRect">
            <a:avLst>
              <a:gd name="adj" fmla="val 36363"/>
            </a:avLst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7333" y="5591175"/>
            <a:ext cx="49528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MRI slice with tumor segmentation overlay (crimson highlight)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555293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Two-Stage Pipeline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391115" y="380999"/>
            <a:ext cx="609584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5822" y="2152650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38219" y="2359192"/>
            <a:ext cx="457188" cy="348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7723" y="3067050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MRI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20" y="3409950"/>
            <a:ext cx="6191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Brain scan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457388" y="2755352"/>
            <a:ext cx="342891" cy="24239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400339" y="2152650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52736" y="2359192"/>
            <a:ext cx="457188" cy="3489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62240" y="3067050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ResNet50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5112" y="3409950"/>
            <a:ext cx="5429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Classifier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762380" y="2755352"/>
            <a:ext cx="342891" cy="24239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714857" y="2152650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67253" y="2341144"/>
            <a:ext cx="457188" cy="3850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19609" y="3067050"/>
            <a:ext cx="9429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Detection?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7233" y="3409950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Tumor present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086422" y="2755352"/>
            <a:ext cx="342891" cy="24239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029374" y="2152650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81770" y="2347160"/>
            <a:ext cx="457188" cy="37297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29374" y="3067050"/>
            <a:ext cx="7619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ResUNet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6522" y="3409950"/>
            <a:ext cx="6476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Segmentor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91415" y="2755352"/>
            <a:ext cx="342891" cy="24239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0343891" y="2152650"/>
            <a:ext cx="761980" cy="761999"/>
          </a:xfrm>
          <a:prstGeom prst="roundRect">
            <a:avLst>
              <a:gd name="adj" fmla="val 40000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496287" y="2359192"/>
            <a:ext cx="457188" cy="3489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429614" y="3067050"/>
            <a:ext cx="6000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2445" y="3409950"/>
            <a:ext cx="11143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Overlay + Heatmap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84" y="4210049"/>
            <a:ext cx="3505112" cy="1295399"/>
          </a:xfrm>
          <a:prstGeom prst="roundRect">
            <a:avLst>
              <a:gd name="adj" fmla="val 1764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0079" y="4471511"/>
            <a:ext cx="228594" cy="16287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42971" y="4419600"/>
            <a:ext cx="9048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Gatekeeper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79" y="4819650"/>
            <a:ext cx="3124121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Classifier reduces compute cost by filtering healthy scans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291" y="4210049"/>
            <a:ext cx="3505112" cy="1295399"/>
          </a:xfrm>
          <a:prstGeom prst="roundRect">
            <a:avLst>
              <a:gd name="adj" fmla="val 1764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33786" y="4470082"/>
            <a:ext cx="228594" cy="16573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876678" y="4419600"/>
            <a:ext cx="17049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False Positive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3786" y="4819650"/>
            <a:ext cx="3124121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Segmentor acts as safety filter, eliminating false positives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76998" y="4210049"/>
            <a:ext cx="3505112" cy="1295399"/>
          </a:xfrm>
          <a:prstGeom prst="roundRect">
            <a:avLst>
              <a:gd name="adj" fmla="val 1764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67493" y="4460081"/>
            <a:ext cx="228594" cy="1857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10384" y="4419600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Cascade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7493" y="4819650"/>
            <a:ext cx="3124121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Two-stage design maximizes accuracy while minimizing resources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4792" y="809625"/>
            <a:ext cx="5486262" cy="523874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2" y="361950"/>
            <a:ext cx="4876678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1040"/>
              </a:spcAft>
            </a:pPr>
            <a:r>
              <a:rPr sz="2870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Stage 1: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2" y="1657350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ResNet50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432" y="2114550"/>
            <a:ext cx="761980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05432" y="24574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819729" y="2597467"/>
            <a:ext cx="228594" cy="177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017" y="24574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017" y="2762249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Pretrained ResNet50 + custom classification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432" y="32575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19729" y="3403282"/>
            <a:ext cx="228594" cy="165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017" y="32575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Loss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017" y="3562349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Categorical cross-entropy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05432" y="40576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19729" y="4197667"/>
            <a:ext cx="228594" cy="177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017" y="40576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Training 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017" y="43624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Adam optimizer, LR = 1e-4, 30 epochs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5432" y="48577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19729" y="5023484"/>
            <a:ext cx="228594" cy="12572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017" y="48577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Fine-Tuning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017" y="51625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Unfreeze top layers, reduced LR = 1e-5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705432" y="6186207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10224" y="6038849"/>
            <a:ext cx="457188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Transfer learning from ImageNet weights enables rapid convergence on medical images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555293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Classification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391115" y="380999"/>
            <a:ext cx="609584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584" y="1314450"/>
            <a:ext cx="5333866" cy="13716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179" y="1543050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708916"/>
            <a:ext cx="342891" cy="2778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38259" y="1543050"/>
            <a:ext cx="40765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Fixed Class 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8259" y="1924049"/>
            <a:ext cx="40765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Calculated from training subset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259" y="2228850"/>
            <a:ext cx="40765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Tumour: 1.43, Healthy: 0.77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243" y="1314450"/>
            <a:ext cx="5333866" cy="13716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6838" y="1543050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10184" y="1695614"/>
            <a:ext cx="342891" cy="3044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76918" y="1543050"/>
            <a:ext cx="40765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Clean Augmentation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6918" y="1924049"/>
            <a:ext cx="40765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Resolved double-augmentation bugs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6918" y="2228850"/>
            <a:ext cx="40765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Spatial + pixel-level augmentations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2990849"/>
            <a:ext cx="5333866" cy="1457325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8179" y="3219449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1525" y="3391228"/>
            <a:ext cx="342891" cy="26604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38259" y="3219449"/>
            <a:ext cx="40765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Threshold Sweep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8259" y="3600450"/>
            <a:ext cx="40765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Systematic exploration 0.15 → 0.50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259" y="3905249"/>
            <a:ext cx="40765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Balancing precision and recall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243" y="2990849"/>
            <a:ext cx="5333866" cy="1457325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76838" y="3219449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10184" y="3379404"/>
            <a:ext cx="342891" cy="28969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76918" y="3219449"/>
            <a:ext cx="40765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Optimal Threshold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6918" y="3600450"/>
            <a:ext cx="4076598" cy="3524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Clinical threshold: </a:t>
            </a:r>
            <a:r>
              <a:rPr sz="1794" b="1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0.25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6918" y="3981449"/>
            <a:ext cx="40765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Minimizes false negatives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84" y="4895849"/>
            <a:ext cx="10972525" cy="1457325"/>
          </a:xfrm>
          <a:prstGeom prst="roundRect">
            <a:avLst>
              <a:gd name="adj" fmla="val 15686"/>
            </a:avLst>
          </a:prstGeom>
          <a:solidFill>
            <a:srgbClr val="7DE54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-53038" y="5558471"/>
            <a:ext cx="1457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76278" y="5173435"/>
            <a:ext cx="285742" cy="2449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14417" y="5124449"/>
            <a:ext cx="10039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Clinical Priority: Reduce False Negatives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4417" y="5505450"/>
            <a:ext cx="10039099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Aggressive thresholding catches 95.59% of tumors. False positives are acceptable as they're filtered by the segmentation stage. Patient safety takes precedence over absolute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4792" y="809625"/>
            <a:ext cx="5486262" cy="523874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95647" y="962024"/>
            <a:ext cx="1543011" cy="380999"/>
          </a:xfrm>
          <a:prstGeom prst="roundRect">
            <a:avLst>
              <a:gd name="adj" fmla="val 40000"/>
            </a:avLst>
          </a:prstGeom>
          <a:solidFill>
            <a:srgbClr val="7DE545">
              <a:alpha val="20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7093" y="1057275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ROC-AUC: 0.9564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2" y="1085850"/>
            <a:ext cx="4876678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104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Classification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432" y="1657350"/>
            <a:ext cx="487667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Model Choice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05432" y="2076449"/>
            <a:ext cx="761980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05432" y="24193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829254" y="2563585"/>
            <a:ext cx="285742" cy="244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9314" y="2419349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Chosen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314" y="2686050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ResNet50 Phase 2 @ 0.25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5432" y="31813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29254" y="3425087"/>
            <a:ext cx="285742" cy="45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29314" y="3143250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System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314" y="3409950"/>
            <a:ext cx="415279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84.07%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432" y="39814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29254" y="4125685"/>
            <a:ext cx="285742" cy="2449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29314" y="3943350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Tumor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314" y="4210049"/>
            <a:ext cx="415279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95.59%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5432" y="4857750"/>
            <a:ext cx="4876678" cy="914400"/>
          </a:xfrm>
          <a:prstGeom prst="roundRect">
            <a:avLst>
              <a:gd name="adj" fmla="val 25000"/>
            </a:avLst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6314272" y="524891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934026" y="5103494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76918" y="5048250"/>
            <a:ext cx="33527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DenseNet121 Rejected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6918" y="5353049"/>
            <a:ext cx="33527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Higher false negative risk despite better ROC-AUC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323849"/>
            <a:ext cx="4876678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1040"/>
              </a:spcAft>
            </a:pPr>
            <a:r>
              <a:rPr sz="2870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Stage 2: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619250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ResUNet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" y="2076449"/>
            <a:ext cx="761980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" y="24193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23881" y="2559367"/>
            <a:ext cx="228594" cy="177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169" y="2419349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169" y="27241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Pretrained ResNet50 feature extractor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3028950"/>
            <a:ext cx="42670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Captures robust low-level &amp; high-level medical textures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34861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23881" y="362616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169" y="34861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Decoder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169" y="3790949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U-Net with skip 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169" y="4095749"/>
            <a:ext cx="42670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Recovers spatial resolution, preserves boundaries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45529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23881" y="4687252"/>
            <a:ext cx="228594" cy="1885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19169" y="4552949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169" y="48577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256 × 256 × 1 binary mask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169" y="5162550"/>
            <a:ext cx="42670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Pixel-level tumor localization with Sigmoid activation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09584" y="6180604"/>
            <a:ext cx="190495" cy="1736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377" y="6000750"/>
            <a:ext cx="45718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Skip connections ensure precise boundary preservation for pixel-level accuracy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639" y="809625"/>
            <a:ext cx="5486262" cy="5238749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452426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Segmentation Evolution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62440" y="380999"/>
            <a:ext cx="609584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1585" y="1657350"/>
            <a:ext cx="1028674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419349"/>
            <a:ext cx="294315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800350"/>
            <a:ext cx="29431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BCE + Dice 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6278" y="3219449"/>
            <a:ext cx="2409764" cy="419100"/>
          </a:xfrm>
          <a:prstGeom prst="roundRect">
            <a:avLst>
              <a:gd name="adj" fmla="val 36363"/>
            </a:avLst>
          </a:prstGeom>
          <a:solidFill>
            <a:srgbClr val="FF6B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28674" y="33477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95367" y="3314700"/>
            <a:ext cx="1838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Hallucinated false positives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857528" y="2498056"/>
            <a:ext cx="457188" cy="3188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619" y="1657350"/>
            <a:ext cx="1714457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47.3%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509" y="2419349"/>
            <a:ext cx="294315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Phase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509" y="2800350"/>
            <a:ext cx="29431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Data Augmentation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1925" y="3219449"/>
            <a:ext cx="2257368" cy="419100"/>
          </a:xfrm>
          <a:prstGeom prst="roundRect">
            <a:avLst>
              <a:gd name="adj" fmla="val 36363"/>
            </a:avLst>
          </a:prstGeom>
          <a:solidFill>
            <a:srgbClr val="FFC10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124321" y="3375772"/>
            <a:ext cx="190495" cy="1064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1015" y="3314700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Improved but suboptimal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76978" y="2498056"/>
            <a:ext cx="457188" cy="3188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48543" y="1657350"/>
            <a:ext cx="1714457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51.5%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8959" y="2419349"/>
            <a:ext cx="294315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Phase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8959" y="2800350"/>
            <a:ext cx="29431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Focal Tversky Loss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5672" y="3219449"/>
            <a:ext cx="2000199" cy="419100"/>
          </a:xfrm>
          <a:prstGeom prst="roundRect">
            <a:avLst>
              <a:gd name="adj" fmla="val 3636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258068" y="3347757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24761" y="3314700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Optimal performance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" y="4019549"/>
            <a:ext cx="3505112" cy="1904999"/>
          </a:xfrm>
          <a:prstGeom prst="roundRect">
            <a:avLst>
              <a:gd name="adj" fmla="val 12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8179" y="4308798"/>
            <a:ext cx="285742" cy="22160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38219" y="4286250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Focal Tversky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79" y="4743450"/>
            <a:ext cx="3047923" cy="838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Replaced BCE to address FN/FP imbalance. Penalizes difficult tumor boundary pixels more heavily.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291" y="4019549"/>
            <a:ext cx="3505112" cy="1904999"/>
          </a:xfrm>
          <a:prstGeom prst="roundRect">
            <a:avLst>
              <a:gd name="adj" fmla="val 12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571885" y="4308798"/>
            <a:ext cx="285742" cy="22160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971925" y="42862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Hyperparameters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885" y="4743450"/>
            <a:ext cx="30479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α = 0.3</a:t>
            </a: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 (False Negative penalty)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1885" y="5086350"/>
            <a:ext cx="30479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β = 0.7</a:t>
            </a: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 (False Positive penalty)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1885" y="5429250"/>
            <a:ext cx="30479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γ = 0.75</a:t>
            </a: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 (Focusing parameter)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6998" y="4019549"/>
            <a:ext cx="3505112" cy="1904999"/>
          </a:xfrm>
          <a:prstGeom prst="roundRect">
            <a:avLst>
              <a:gd name="adj" fmla="val 12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305592" y="4291304"/>
            <a:ext cx="285742" cy="25659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705632" y="4286250"/>
            <a:ext cx="15049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Key Achievement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5592" y="4743450"/>
            <a:ext cx="3047923" cy="838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Eliminated false-positive hallucinations on healthy scans. Forced model to focus on tumor boundary pixels.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952499"/>
            <a:ext cx="640063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104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Final Output +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523999"/>
            <a:ext cx="761980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584" y="1790700"/>
            <a:ext cx="6400639" cy="1409699"/>
          </a:xfrm>
          <a:prstGeom prst="roundRect">
            <a:avLst>
              <a:gd name="adj" fmla="val 1621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0079" y="2050732"/>
            <a:ext cx="228594" cy="1657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2971" y="2000250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Models Exported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1070" y="25146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17" y="2400300"/>
            <a:ext cx="38099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Source Code Pro"/>
                <a:rFonts ascii="Source Code Pro" hAnsi="Source Code Pro" eastAsia="Source Code Pro" cs="Source Code Pro"/>
              </a:rPr>
              <a:t>brain_tumor_resnet50_pipeline_f.keras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1070" y="28575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4417" y="2743200"/>
            <a:ext cx="42194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Source Code Pro"/>
                <a:rFonts ascii="Source Code Pro" hAnsi="Source Code Pro" eastAsia="Source Code Pro" cs="Source Code Pro"/>
              </a:rPr>
              <a:t>Brain_Tumor_Segmentation_FTL_Winner.keras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3390899"/>
            <a:ext cx="3124121" cy="1409699"/>
          </a:xfrm>
          <a:prstGeom prst="roundRect">
            <a:avLst>
              <a:gd name="adj" fmla="val 1621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3670934"/>
            <a:ext cx="228594" cy="1257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2971" y="3600450"/>
            <a:ext cx="9620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Tech Stack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4059186"/>
            <a:ext cx="171445" cy="1493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7723" y="4000500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FastAPI Backend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4402086"/>
            <a:ext cx="171445" cy="1493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7723" y="4343400"/>
            <a:ext cx="12477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Next.js Frontend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102" y="3390899"/>
            <a:ext cx="3124121" cy="1409699"/>
          </a:xfrm>
          <a:prstGeom prst="roundRect">
            <a:avLst>
              <a:gd name="adj" fmla="val 1621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076598" y="3650932"/>
            <a:ext cx="228594" cy="16573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19489" y="3600450"/>
            <a:ext cx="10572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Deployment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076598" y="4059186"/>
            <a:ext cx="171445" cy="1493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24241" y="4000500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Dockerized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076598" y="4402086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24241" y="4343400"/>
            <a:ext cx="8858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AWS-Ready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4991100"/>
            <a:ext cx="6400639" cy="914400"/>
          </a:xfrm>
          <a:prstGeom prst="roundRect">
            <a:avLst>
              <a:gd name="adj" fmla="val 25000"/>
            </a:avLst>
          </a:prstGeom>
          <a:solidFill>
            <a:srgbClr val="7DE54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218424" y="538226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8179" y="5328751"/>
            <a:ext cx="285742" cy="2390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38219" y="5181599"/>
            <a:ext cx="39527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Production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8219" y="5486400"/>
            <a:ext cx="39527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D1D5DB"/>
                </a:solidFill>
                <a:latin typeface="Roboto Flex"/>
                <a:rFonts ascii="Roboto Flex" hAnsi="Roboto Flex" eastAsia="Roboto Flex" cs="Roboto Flex"/>
              </a:rPr>
              <a:t>End-to-end pipeline with reproducible deployment artifacts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19809" y="809625"/>
            <a:ext cx="4267093" cy="5238749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19809" y="5514975"/>
            <a:ext cx="4267093" cy="533399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9325E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205" y="5667374"/>
            <a:ext cx="39623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Containerized Deployment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{"Label":"1","ContentProducer":"001191110108MA01KP2T5U00000","ProduceID":"a1cac1d31cfcf4dc4defc9bcb6edba87","ReservedCode1":"","ContentPropagator":"001191110108MA01KP2T5U00000","PropagateID":"a1cac1d31cfcf4dc4defc9bcb6edba87","ReservedCode2":""}</vt:lpwstr>
  </property>
</Properties>
</file>